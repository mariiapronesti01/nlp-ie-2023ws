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1C2B5F-1C65-4827-960B-BEEF89DE0A51}">
  <a:tblStyle styleId="{4D1C2B5F-1C65-4827-960B-BEEF89DE0A5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92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b0d95d5e0c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b0d95d5e0c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The main task was RE which means that given a sentence you have to identify the entities and assign a relation to them. we decided to focus on the second part of the task, called slot filling, as the datasets we used already provided us the entities inside the sentences. So our main goal was to classify the relation between given entities. Here is an example: mark is survived by his brother John: subj and obj are identified by some tag that we will see later, the goal is to output the relation per:siblings.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ef5cd01c3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ef5cd01c3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We used two datasets: TACRED made of 106k examples and its revisited version called TACREV. The former one was collected between 2009 and 2014 and annotated by crowdworkers.It has  41 possible relations plus no relation for a total of 42 classes. Starting from TACRED, the most challenging examples have been manually relabelled by linguistic experts and the result of this operation is the second dataset, TACREV, which is used for validation and test set. TACRED and TACREV have the same structure with many features. here we reported the ones that we used in our models:</a:t>
            </a:r>
            <a:endParaRPr/>
          </a:p>
          <a:p>
            <a:pPr marL="457200" lvl="0" indent="-298450" algn="l" rtl="0">
              <a:spcBef>
                <a:spcPts val="0"/>
              </a:spcBef>
              <a:spcAft>
                <a:spcPts val="0"/>
              </a:spcAft>
              <a:buSzPts val="1100"/>
              <a:buChar char="●"/>
            </a:pPr>
            <a:r>
              <a:rPr lang="it"/>
              <a:t>subj -&gt; indicate wheter the considered token is the subject entity of the sentence </a:t>
            </a:r>
            <a:endParaRPr/>
          </a:p>
          <a:p>
            <a:pPr marL="457200" lvl="0" indent="-298450" algn="l" rtl="0">
              <a:spcBef>
                <a:spcPts val="0"/>
              </a:spcBef>
              <a:spcAft>
                <a:spcPts val="0"/>
              </a:spcAft>
              <a:buSzPts val="1100"/>
              <a:buChar char="●"/>
            </a:pPr>
            <a:r>
              <a:rPr lang="it"/>
              <a:t>if the token is the subject entity, then its type, either PERSON or ORGANIZATION, is specified. </a:t>
            </a:r>
            <a:endParaRPr/>
          </a:p>
          <a:p>
            <a:pPr marL="457200" lvl="0" indent="-298450" algn="l" rtl="0">
              <a:spcBef>
                <a:spcPts val="0"/>
              </a:spcBef>
              <a:spcAft>
                <a:spcPts val="0"/>
              </a:spcAft>
              <a:buSzPts val="1100"/>
              <a:buChar char="●"/>
            </a:pPr>
            <a:r>
              <a:rPr lang="it"/>
              <a:t>the same holds for the object entity, however more types can be displayed for that (17, including for example LOCATION, CITY, DATE, COUNTRY…..)</a:t>
            </a:r>
            <a:endParaRPr/>
          </a:p>
          <a:p>
            <a:pPr marL="457200" lvl="0" indent="-298450" algn="l" rtl="0">
              <a:spcBef>
                <a:spcPts val="0"/>
              </a:spcBef>
              <a:spcAft>
                <a:spcPts val="0"/>
              </a:spcAft>
              <a:buSzPts val="1100"/>
              <a:buChar char="●"/>
            </a:pPr>
            <a:r>
              <a:rPr lang="it"/>
              <a:t>POS(part-of-speech) which for example specify if the word “love” is a nerb or a noun </a:t>
            </a:r>
            <a:endParaRPr/>
          </a:p>
          <a:p>
            <a:pPr marL="457200" lvl="0" indent="-298450" algn="l" rtl="0">
              <a:spcBef>
                <a:spcPts val="0"/>
              </a:spcBef>
              <a:spcAft>
                <a:spcPts val="0"/>
              </a:spcAft>
              <a:buSzPts val="1100"/>
              <a:buChar char="●"/>
            </a:pPr>
            <a:r>
              <a:rPr lang="it"/>
              <a:t>NER(named entity recognition) are obtained by running the StandfordCoreNLP tool </a:t>
            </a:r>
            <a:endParaRPr/>
          </a:p>
          <a:p>
            <a:pPr marL="0" lvl="0" indent="0" algn="l" rtl="0">
              <a:spcBef>
                <a:spcPts val="0"/>
              </a:spcBef>
              <a:spcAft>
                <a:spcPts val="0"/>
              </a:spcAft>
              <a:buNone/>
            </a:pPr>
            <a:r>
              <a:rPr lang="it"/>
              <a:t>all the results that we are going to show are obtained by considering the best model validated on the tacrev dev set and testing this model on the tacrev test set because we think that the corrections done by linguistic experts could be beneficial for the model performance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ef5cd01c3b_1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ef5cd01c3b_1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Other issues with </a:t>
            </a:r>
            <a:r>
              <a:rPr lang="it" b="1"/>
              <a:t>stopwords removal</a:t>
            </a:r>
            <a:r>
              <a:rPr lang="it"/>
              <a:t>: we would be unable to classify </a:t>
            </a:r>
            <a:r>
              <a:rPr lang="it" b="1"/>
              <a:t>relations including pronouns, </a:t>
            </a:r>
            <a:r>
              <a:rPr lang="it"/>
              <a:t>would lose significance of </a:t>
            </a:r>
            <a:r>
              <a:rPr lang="it" b="1"/>
              <a:t>phrasal verbs</a:t>
            </a:r>
            <a:r>
              <a:rPr lang="it"/>
              <a:t> for example.</a:t>
            </a:r>
            <a:endParaRPr/>
          </a:p>
          <a:p>
            <a:pPr marL="0" lvl="0" indent="0" algn="l" rtl="0">
              <a:spcBef>
                <a:spcPts val="0"/>
              </a:spcBef>
              <a:spcAft>
                <a:spcPts val="0"/>
              </a:spcAft>
              <a:buNone/>
            </a:pPr>
            <a:r>
              <a:rPr lang="it"/>
              <a:t>Similar issues with loss of information that may be key for correctly identifying relations (if they ask for example something like AIG founded ALICO (so we have to extract subsidiary, </a:t>
            </a:r>
            <a:r>
              <a:rPr lang="it" b="1"/>
              <a:t>after lemmatisation AIG found ALICO </a:t>
            </a:r>
            <a:r>
              <a:rPr lang="it"/>
              <a:t>we would be unsure of the correct relation whether it is subsidiary of the opposite relation one, like members).</a:t>
            </a:r>
            <a:endParaRPr/>
          </a:p>
          <a:p>
            <a:pPr marL="0" lvl="0" indent="0" algn="l" rtl="0">
              <a:spcBef>
                <a:spcPts val="0"/>
              </a:spcBef>
              <a:spcAft>
                <a:spcPts val="0"/>
              </a:spcAft>
              <a:buNone/>
            </a:pPr>
            <a:endParaRPr/>
          </a:p>
          <a:p>
            <a:pPr marL="0" lvl="0" indent="0" algn="l" rtl="0">
              <a:spcBef>
                <a:spcPts val="0"/>
              </a:spcBef>
              <a:spcAft>
                <a:spcPts val="0"/>
              </a:spcAft>
              <a:buNone/>
            </a:pPr>
            <a:r>
              <a:rPr lang="it"/>
              <a:t>A first attempt was the usage of relation specific regex patterns for the task. </a:t>
            </a:r>
            <a:endParaRPr/>
          </a:p>
          <a:p>
            <a:pPr marL="0" lvl="0" indent="0" algn="l" rtl="0">
              <a:spcBef>
                <a:spcPts val="0"/>
              </a:spcBef>
              <a:spcAft>
                <a:spcPts val="0"/>
              </a:spcAft>
              <a:buNone/>
            </a:pPr>
            <a:r>
              <a:rPr lang="it"/>
              <a:t>This is however very time consuming and was done for some of the easiest ones. To avoid having every sentence applied to the same relations we only considered the appearence of patterns between subject and object (or some words between/after those). This approach has many issues, mainly being time consuming to develop, not guaranteeing only one relation being assigned, and working particularly bad on sentences with distant subject and object, where we could have many different words in between the entities.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ef5cd01c3b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1ef5cd01c3b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Other issues with stopwords removal: we would be unable to classify relations including pronouns, would lose significance of phrasal verbs for example.</a:t>
            </a:r>
            <a:endParaRPr/>
          </a:p>
          <a:p>
            <a:pPr marL="0" lvl="0" indent="0" algn="l" rtl="0">
              <a:spcBef>
                <a:spcPts val="0"/>
              </a:spcBef>
              <a:spcAft>
                <a:spcPts val="0"/>
              </a:spcAft>
              <a:buNone/>
            </a:pPr>
            <a:r>
              <a:rPr lang="it"/>
              <a:t>Similar issues with loss of information that may be key for correctly identifying relations (if they ask for example something like AIG founded ALICO (so we have to extract subsidiary, after lemmatisation AIG found ALICO we would be unsure of the correct relation whether it is subsidiary of the opposite relation one, like members).</a:t>
            </a:r>
            <a:endParaRPr/>
          </a:p>
          <a:p>
            <a:pPr marL="0" lvl="0" indent="0" algn="l" rtl="0">
              <a:spcBef>
                <a:spcPts val="0"/>
              </a:spcBef>
              <a:spcAft>
                <a:spcPts val="0"/>
              </a:spcAft>
              <a:buNone/>
            </a:pPr>
            <a:endParaRPr/>
          </a:p>
          <a:p>
            <a:pPr marL="0" lvl="0" indent="0" algn="l" rtl="0">
              <a:spcBef>
                <a:spcPts val="0"/>
              </a:spcBef>
              <a:spcAft>
                <a:spcPts val="0"/>
              </a:spcAft>
              <a:buNone/>
            </a:pPr>
            <a:r>
              <a:rPr lang="it"/>
              <a:t>A first attempt was the usage of</a:t>
            </a:r>
            <a:r>
              <a:rPr lang="it" b="1"/>
              <a:t> relation specific regular expression patterns </a:t>
            </a:r>
            <a:r>
              <a:rPr lang="it"/>
              <a:t>for the task. </a:t>
            </a:r>
            <a:endParaRPr/>
          </a:p>
          <a:p>
            <a:pPr marL="0" lvl="0" indent="0" algn="l" rtl="0">
              <a:spcBef>
                <a:spcPts val="0"/>
              </a:spcBef>
              <a:spcAft>
                <a:spcPts val="0"/>
              </a:spcAft>
              <a:buNone/>
            </a:pPr>
            <a:r>
              <a:rPr lang="it"/>
              <a:t>This is however very </a:t>
            </a:r>
            <a:r>
              <a:rPr lang="it" b="1"/>
              <a:t>time consuming </a:t>
            </a:r>
            <a:r>
              <a:rPr lang="it"/>
              <a:t>and was done for some of the easiest ones. To avoid having every sentence applied to the same relations we only considered the appearence of patterns between subject and object (or some words between/after those). This approach has many issues, mainly being time consuming to develop, </a:t>
            </a:r>
            <a:r>
              <a:rPr lang="it" b="1"/>
              <a:t>not guaranteeing only one relation being assigned</a:t>
            </a:r>
            <a:r>
              <a:rPr lang="it"/>
              <a:t>, and working particularly </a:t>
            </a:r>
            <a:r>
              <a:rPr lang="it" b="1"/>
              <a:t>bad on sentences with distant subject and object</a:t>
            </a:r>
            <a:r>
              <a:rPr lang="it"/>
              <a:t>, where we could have many different words in between the entities.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b06df2600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b06df260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it"/>
              <a:t>Our approach to relation extraction starts using a Random Forest classifier. We began with the utilization of a </a:t>
            </a:r>
            <a:r>
              <a:rPr lang="it" b="1"/>
              <a:t>pre-trained FastText model,</a:t>
            </a:r>
            <a:r>
              <a:rPr lang="it"/>
              <a:t> where we opted to reduce the dimensionality of the embeddings to 100 for computational efficiency. For each sentence, we aggregated the embeddings by taking their average, forming a foundation for our subsequent analysis.</a:t>
            </a:r>
            <a:endParaRPr/>
          </a:p>
          <a:p>
            <a:pPr marL="0" lvl="0" indent="0" algn="l" rtl="0">
              <a:lnSpc>
                <a:spcPct val="115000"/>
              </a:lnSpc>
              <a:spcBef>
                <a:spcPts val="1200"/>
              </a:spcBef>
              <a:spcAft>
                <a:spcPts val="0"/>
              </a:spcAft>
              <a:buClr>
                <a:schemeClr val="dk1"/>
              </a:buClr>
              <a:buSzPts val="1100"/>
              <a:buFont typeface="Arial"/>
              <a:buNone/>
            </a:pPr>
            <a:r>
              <a:rPr lang="it"/>
              <a:t>To enrich the information available to our model, we incorporated </a:t>
            </a:r>
            <a:r>
              <a:rPr lang="it" b="1"/>
              <a:t>additional features</a:t>
            </a:r>
            <a:r>
              <a:rPr lang="it"/>
              <a:t>. Specifically, we included the distance between the subject and object entities, as well as the similarity between them, calculated through the cosine similarity of their respective embeddings. Furthermore, we represented the subject and object types and Stanford POS (Part of Speech) attributes using one-hot encoding.</a:t>
            </a:r>
            <a:endParaRPr/>
          </a:p>
          <a:p>
            <a:pPr marL="0" lvl="0" indent="0" algn="l" rtl="0">
              <a:lnSpc>
                <a:spcPct val="115000"/>
              </a:lnSpc>
              <a:spcBef>
                <a:spcPts val="1200"/>
              </a:spcBef>
              <a:spcAft>
                <a:spcPts val="0"/>
              </a:spcAft>
              <a:buClr>
                <a:schemeClr val="dk1"/>
              </a:buClr>
              <a:buSzPts val="1100"/>
              <a:buFont typeface="Arial"/>
              <a:buNone/>
            </a:pPr>
            <a:r>
              <a:rPr lang="it"/>
              <a:t>These diverse attributes collectively served as input to our Random Forest classifier. We performed </a:t>
            </a:r>
            <a:r>
              <a:rPr lang="it" b="1"/>
              <a:t>hyperparameter tuning</a:t>
            </a:r>
            <a:r>
              <a:rPr lang="it"/>
              <a:t>, focusing on the number of estimators and the maximum depth of the trees, to ensure optimal model performance. To address the challenge of class imbalance, with certain relations having a surplus of instances, while others are represented by only a few, </a:t>
            </a:r>
            <a:r>
              <a:rPr lang="it" b="1"/>
              <a:t>we balanced the classes</a:t>
            </a:r>
            <a:r>
              <a:rPr lang="it"/>
              <a:t> to obtain a fair representation of each relation class.</a:t>
            </a:r>
            <a:endParaRPr/>
          </a:p>
          <a:p>
            <a:pPr marL="0" lvl="0" indent="0" algn="l" rtl="0">
              <a:spcBef>
                <a:spcPts val="120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b06df26008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b06df26008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we used microaveraging F1 score function which does not reward the model for correctly predicting no_relation label.</a:t>
            </a:r>
            <a:endParaRPr/>
          </a:p>
          <a:p>
            <a:pPr marL="0" lvl="0" indent="0" algn="l" rtl="0">
              <a:spcBef>
                <a:spcPts val="0"/>
              </a:spcBef>
              <a:spcAft>
                <a:spcPts val="0"/>
              </a:spcAft>
              <a:buNone/>
            </a:pPr>
            <a:r>
              <a:rPr lang="it"/>
              <a:t>for all the measure use microavarage score that don rewar the model for a right precictio  of no_relation</a:t>
            </a:r>
            <a:endParaRPr/>
          </a:p>
          <a:p>
            <a:pPr marL="0" lvl="0" indent="0" algn="l" rtl="0">
              <a:lnSpc>
                <a:spcPct val="115000"/>
              </a:lnSpc>
              <a:spcBef>
                <a:spcPts val="1200"/>
              </a:spcBef>
              <a:spcAft>
                <a:spcPts val="0"/>
              </a:spcAft>
              <a:buClr>
                <a:schemeClr val="dk1"/>
              </a:buClr>
              <a:buSzPts val="1100"/>
              <a:buFont typeface="Arial"/>
              <a:buNone/>
            </a:pPr>
            <a:r>
              <a:rPr lang="it"/>
              <a:t>Here are the results of the random Forest: </a:t>
            </a:r>
            <a:br>
              <a:rPr lang="it"/>
            </a:br>
            <a:r>
              <a:rPr lang="it"/>
              <a:t>In the upper part of the table we can see the 3 best performing relations, achieving a maximum of 73% precision and 80% recall.</a:t>
            </a:r>
            <a:br>
              <a:rPr lang="it"/>
            </a:br>
            <a:r>
              <a:rPr lang="it"/>
              <a:t>While in the lower part we have many relations which were never predicted (which means that have precision 1 and recall 0), and many others that have both precision and recall equal to 0 meaning that they are false positive: the model assign their labels to wrong instances. </a:t>
            </a:r>
            <a:endParaRPr/>
          </a:p>
          <a:p>
            <a:pPr marL="0" lvl="0" indent="0" algn="l" rtl="0">
              <a:spcBef>
                <a:spcPts val="1200"/>
              </a:spcBef>
              <a:spcAft>
                <a:spcPts val="0"/>
              </a:spcAft>
              <a:buNone/>
            </a:pPr>
            <a:r>
              <a:rPr lang="it"/>
              <a:t>what we can observe is that the number of instances in the train set might influence the behavior of the model but not that much, as for example org:website has just 100 instances, as some of the relations that the model never predicts.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ef5cd01c3b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ef5cd01c3b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it"/>
              <a:t>Model description: unidirectional LSTM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b1137adee5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b1137adee5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a:t>TALK ABOUT THE METRIC</a:t>
            </a:r>
            <a:endParaRPr/>
          </a:p>
          <a:p>
            <a:pPr marL="0" lvl="0" indent="0" algn="l" rtl="0">
              <a:lnSpc>
                <a:spcPct val="115000"/>
              </a:lnSpc>
              <a:spcBef>
                <a:spcPts val="1200"/>
              </a:spcBef>
              <a:spcAft>
                <a:spcPts val="0"/>
              </a:spcAft>
              <a:buNone/>
            </a:pPr>
            <a:r>
              <a:rPr lang="it"/>
              <a:t>Relations where a lower and higer F1 levels were achieved. Note that in some instances (where we have like 1-4 instances on test set, claiming that the model does not work well on those relations would be a long shot, due to the fact that there are so little instances of those. We would require the collection of more sentences from the testing set).</a:t>
            </a:r>
            <a:endParaRPr/>
          </a:p>
          <a:p>
            <a:pPr marL="0" lvl="0" indent="0" algn="l" rtl="0">
              <a:lnSpc>
                <a:spcPct val="115000"/>
              </a:lnSpc>
              <a:spcBef>
                <a:spcPts val="1200"/>
              </a:spcBef>
              <a:spcAft>
                <a:spcPts val="1200"/>
              </a:spcAft>
              <a:buNone/>
            </a:pPr>
            <a:r>
              <a:rPr lang="it"/>
              <a:t>Also note that it does not appear like number of training instances is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ef5cd01c3b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ef5cd01c3b_1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a:t>Describe differences between the models.</a:t>
            </a:r>
            <a:endParaRPr/>
          </a:p>
          <a:p>
            <a:pPr marL="0" lvl="0" indent="0" algn="l" rtl="0">
              <a:lnSpc>
                <a:spcPct val="115000"/>
              </a:lnSpc>
              <a:spcBef>
                <a:spcPts val="1200"/>
              </a:spcBef>
              <a:spcAft>
                <a:spcPts val="1200"/>
              </a:spcAft>
              <a:buNone/>
            </a:pPr>
            <a:r>
              <a:rPr lang="it"/>
              <a:t>Consider the fact that the RF model is significantly more efficient than the LSTM model.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ef5cd01c3b_1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ef5cd01c3b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a:t>For the different models we decided to perform a more detailed error analysis by considering two aspects.</a:t>
            </a:r>
            <a:endParaRPr/>
          </a:p>
          <a:p>
            <a:pPr marL="0" lvl="0" indent="0" algn="l" rtl="0">
              <a:lnSpc>
                <a:spcPct val="115000"/>
              </a:lnSpc>
              <a:spcBef>
                <a:spcPts val="1200"/>
              </a:spcBef>
              <a:spcAft>
                <a:spcPts val="0"/>
              </a:spcAft>
              <a:buNone/>
            </a:pPr>
            <a:r>
              <a:rPr lang="it"/>
              <a:t>First of all we try to identify sentence characteristics which we believe may cause issues. These are for example the sentence length (maybe the model loses the importance of the subject and object entity as there are more terms) but also the distance between the two entities of the sentence (for example for the LSTM model it may lose the information about the first entity when it reaches the last one).</a:t>
            </a:r>
            <a:endParaRPr/>
          </a:p>
          <a:p>
            <a:pPr marL="0" lvl="0" indent="0" algn="l" rtl="0">
              <a:lnSpc>
                <a:spcPct val="115000"/>
              </a:lnSpc>
              <a:spcBef>
                <a:spcPts val="1200"/>
              </a:spcBef>
              <a:spcAft>
                <a:spcPts val="0"/>
              </a:spcAft>
              <a:buNone/>
            </a:pPr>
            <a:r>
              <a:rPr lang="it"/>
              <a:t>If they ask about why RF: we noticed larger distance between entities have more no relation. Maybe the model learnt that when it sees long distance it should output no_relation, and the re-weighting schemes do not account for this sufficiently.</a:t>
            </a:r>
            <a:endParaRPr/>
          </a:p>
          <a:p>
            <a:pPr marL="0" lvl="0" indent="0" algn="l" rtl="0">
              <a:lnSpc>
                <a:spcPct val="115000"/>
              </a:lnSpc>
              <a:spcBef>
                <a:spcPts val="1200"/>
              </a:spcBef>
              <a:spcAft>
                <a:spcPts val="1200"/>
              </a:spcAft>
              <a:buNone/>
            </a:pPr>
            <a:r>
              <a:rPr lang="it"/>
              <a:t>The second part of the error analysis is focused on determining whether the model is capable of predicting groups of relations which were identified to be similar. For these, we looked at the slot-filling guidelines for the different relations, where there are some relations which are highlighted to be similar, see here for example the fact that subsidiaries and org members are pointed. Another characteristics of the relations is the order, as we have so called inverse relations: see for example members and members of. Starting from these, and also considering potentially similar meaning of those, we investigate the errors within these classes.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b13b435939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b13b435939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a:t>For the different models we decided to perform a more detailed error analysis by considering two aspects.</a:t>
            </a:r>
            <a:endParaRPr/>
          </a:p>
          <a:p>
            <a:pPr marL="0" lvl="0" indent="0" algn="l" rtl="0">
              <a:lnSpc>
                <a:spcPct val="115000"/>
              </a:lnSpc>
              <a:spcBef>
                <a:spcPts val="1200"/>
              </a:spcBef>
              <a:spcAft>
                <a:spcPts val="0"/>
              </a:spcAft>
              <a:buNone/>
            </a:pPr>
            <a:r>
              <a:rPr lang="it"/>
              <a:t>First of all we try to identify sentence characteristics which we believe may cause issues. These are for example the sentence length (maybe the model loses the importance of the subject and object entity as there are more terms) but also the distance between the two entities of the sentence (for example for the LSTM model it may lose the information about the first entity when it reaches the last one).</a:t>
            </a:r>
            <a:endParaRPr/>
          </a:p>
          <a:p>
            <a:pPr marL="0" lvl="0" indent="0" algn="l" rtl="0">
              <a:lnSpc>
                <a:spcPct val="115000"/>
              </a:lnSpc>
              <a:spcBef>
                <a:spcPts val="1200"/>
              </a:spcBef>
              <a:spcAft>
                <a:spcPts val="0"/>
              </a:spcAft>
              <a:buNone/>
            </a:pPr>
            <a:r>
              <a:rPr lang="it"/>
              <a:t>If they ask about why RF: we noticed larger distance between entities have more no relation. Maybe the model learnt that when it sees long distance it should output no_relation, and the re-weighting schemes do not account for this sufficiently.</a:t>
            </a:r>
            <a:endParaRPr/>
          </a:p>
          <a:p>
            <a:pPr marL="0" lvl="0" indent="0" algn="l" rtl="0">
              <a:lnSpc>
                <a:spcPct val="115000"/>
              </a:lnSpc>
              <a:spcBef>
                <a:spcPts val="1200"/>
              </a:spcBef>
              <a:spcAft>
                <a:spcPts val="1200"/>
              </a:spcAft>
              <a:buNone/>
            </a:pPr>
            <a:r>
              <a:rPr lang="it"/>
              <a:t>The second part of the error analysis is focused on determining whether the model is capable of predicting groups of relations which were identified to be similar. For these, we looked at the slot-filling guidelines for the different relations, where there are some relations which are highlighted to be similar, see here for example the fact that subsidiaries and org members are pointed. Another characteristics of the relations is the order, as we have so called inverse relations: see for example members and members of. Starting from these, and also considering potentially similar meaning of those, we investigate the errors within these classes.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b06df26008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b06df26008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In the heatmap is shown the relation between the sentence length and the distance between subj and obj entities. We can observe that the best combination is when the sentence is long but the distance between subj and obj is small, while the worst case is when both the distances are long.</a:t>
            </a:r>
            <a:endParaRPr/>
          </a:p>
          <a:p>
            <a:pPr marL="0" lvl="0" indent="0" algn="l" rtl="0">
              <a:spcBef>
                <a:spcPts val="0"/>
              </a:spcBef>
              <a:spcAft>
                <a:spcPts val="0"/>
              </a:spcAft>
              <a:buNone/>
            </a:pPr>
            <a:r>
              <a:rPr lang="it"/>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b1137adee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b1137adee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We observe a similar behaviour to that we saw for the RF model. In general it appears that the most challenging instances are those with long sentence length and large distance between the two entities. We note that the model has a much larger F1 score when considering sentences with short distance between the entities, while performance is below average on all other combinations.</a:t>
            </a:r>
            <a:endParaRPr/>
          </a:p>
          <a:p>
            <a:pPr marL="0" lvl="0" indent="0" algn="l" rtl="0">
              <a:spcBef>
                <a:spcPts val="0"/>
              </a:spcBef>
              <a:spcAft>
                <a:spcPts val="0"/>
              </a:spcAft>
              <a:buNone/>
            </a:pPr>
            <a:r>
              <a:rPr lang="it"/>
              <a:t>By having a closer look at the precision and recall values obtained when looking at the different groups, we note that while also precision is affected, the main drop for entities with longer instances occurs when we consider recall.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ef5cd01c3b_1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1ef5cd01c3b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a:t>For the slides we report the analysis done on relations which we identified as all pointing to some sort of relationship between different organizations and entities, and are shown at the top of the slides (those with same colour represent inverse relations as pointed out before.</a:t>
            </a:r>
            <a:endParaRPr/>
          </a:p>
          <a:p>
            <a:pPr marL="0" lvl="0" indent="0" algn="l" rtl="0">
              <a:lnSpc>
                <a:spcPct val="115000"/>
              </a:lnSpc>
              <a:spcBef>
                <a:spcPts val="1200"/>
              </a:spcBef>
              <a:spcAft>
                <a:spcPts val="0"/>
              </a:spcAft>
              <a:buNone/>
            </a:pPr>
            <a:r>
              <a:rPr lang="it"/>
              <a:t>When analyzing this sub group of relations we noted that the most common errors appear to be the model either outputting a relation but the correct one is no relation, or the reverse happening. For the majority of other errors of the model, the mis-predictions appear to be in the majority of cases within these identified groups of no relations, both for the random forest and for the LSTM model. </a:t>
            </a:r>
            <a:endParaRPr/>
          </a:p>
          <a:p>
            <a:pPr marL="0" lvl="0" indent="0" algn="l" rtl="0">
              <a:lnSpc>
                <a:spcPct val="115000"/>
              </a:lnSpc>
              <a:spcBef>
                <a:spcPts val="1200"/>
              </a:spcBef>
              <a:spcAft>
                <a:spcPts val="0"/>
              </a:spcAft>
              <a:buNone/>
            </a:pPr>
            <a:r>
              <a:rPr lang="it"/>
              <a:t>If we focus on the relations which were modified when moving from TACRED to TACREV (counts reported here are those from the test dataset), it appears that the majority of the errors which were fixed, consist of moving from no_relation to other relation or also within groups. For example for org:parents we see that they were moved to no relation, shareholders and its inverse subsidiaries.</a:t>
            </a:r>
            <a:endParaRPr/>
          </a:p>
          <a:p>
            <a:pPr marL="0" lvl="0" indent="0" algn="l" rtl="0">
              <a:lnSpc>
                <a:spcPct val="115000"/>
              </a:lnSpc>
              <a:spcBef>
                <a:spcPts val="1200"/>
              </a:spcBef>
              <a:spcAft>
                <a:spcPts val="1200"/>
              </a:spcAft>
              <a:buNone/>
            </a:pPr>
            <a:r>
              <a:rPr lang="it"/>
              <a:t>Other than these relations being similar we believe the following could be another issue as to why the models seem to mix up similar relations. In fact, if we assume that the same labelling errors which are identified on the train and test dataset are also present in the training set, then we can imagine that both models have learnt to predict on some wrong instances, which may potentially be causing issues. In fact keep in mind that the TACRED training set was NOT fixed like the other two, and it was annotated using crowd sourcing. While going through the examples we notices some clearly misclassified sentences.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ef5cd01c3b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ef5cd01c3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a:t>Another class of errors which we identified when looking at the LSTM model appear to be caused by wrong NER assignments to the subject or object entity.</a:t>
            </a:r>
            <a:endParaRPr/>
          </a:p>
          <a:p>
            <a:pPr marL="0" lvl="0" indent="0" algn="l" rtl="0">
              <a:lnSpc>
                <a:spcPct val="115000"/>
              </a:lnSpc>
              <a:spcBef>
                <a:spcPts val="1200"/>
              </a:spcBef>
              <a:spcAft>
                <a:spcPts val="0"/>
              </a:spcAft>
              <a:buNone/>
            </a:pPr>
            <a:r>
              <a:rPr lang="it"/>
              <a:t>We report here two examples which are significant for this issue:</a:t>
            </a:r>
            <a:endParaRPr/>
          </a:p>
          <a:p>
            <a:pPr marL="457200" lvl="0" indent="-298450" algn="l" rtl="0">
              <a:lnSpc>
                <a:spcPct val="115000"/>
              </a:lnSpc>
              <a:spcBef>
                <a:spcPts val="1200"/>
              </a:spcBef>
              <a:spcAft>
                <a:spcPts val="0"/>
              </a:spcAft>
              <a:buSzPts val="1100"/>
              <a:buChar char="-"/>
            </a:pPr>
            <a:r>
              <a:rPr lang="it"/>
              <a:t>In the first one, we have the company alessi being being identified as a person, and hence the predicted relation is that of per:origin rather than the correct one of org:countr_of_headquarters.</a:t>
            </a:r>
            <a:endParaRPr/>
          </a:p>
          <a:p>
            <a:pPr marL="457200" lvl="0" indent="-298450" algn="l" rtl="0">
              <a:lnSpc>
                <a:spcPct val="115000"/>
              </a:lnSpc>
              <a:spcBef>
                <a:spcPts val="0"/>
              </a:spcBef>
              <a:spcAft>
                <a:spcPts val="0"/>
              </a:spcAft>
              <a:buSzPts val="1100"/>
              <a:buChar char="-"/>
            </a:pPr>
            <a:r>
              <a:rPr lang="it"/>
              <a:t>In the second one we see one of many examples where the obj or subj are location entities. Due to masking used for model training., the model does not have the word itself but only the OBJ-OBJ-type pair. In some cases these locations are assigned the more general NER tag LOCATIOn rather than specific ones like CITY or COUNTRY, which are key for the model being able to determine which of these two appears to be the case. In particular we noted that DC is the most problematic ones, as in some cases it was wrongly misclassified as COUNTRY.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ef5cd01c3b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ef5cd01c3b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tac.nist.gov/2017/KBP/ColdStart/guidelines.htm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aclanthology.org/D17-1004/"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aclanthology.org/2020.acl-main.14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191450" y="1381075"/>
            <a:ext cx="8775900" cy="5172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Clr>
                <a:schemeClr val="dk1"/>
              </a:buClr>
              <a:buSzPts val="523"/>
              <a:buFont typeface="Arial"/>
              <a:buNone/>
            </a:pPr>
            <a:r>
              <a:rPr lang="it" sz="4030"/>
              <a:t>Relation Extraction</a:t>
            </a:r>
            <a:endParaRPr sz="4030"/>
          </a:p>
          <a:p>
            <a:pPr marL="0" lvl="0" indent="0" algn="ctr" rtl="0">
              <a:lnSpc>
                <a:spcPct val="80000"/>
              </a:lnSpc>
              <a:spcBef>
                <a:spcPts val="0"/>
              </a:spcBef>
              <a:spcAft>
                <a:spcPts val="0"/>
              </a:spcAft>
              <a:buClr>
                <a:schemeClr val="dk1"/>
              </a:buClr>
              <a:buSzPts val="523"/>
              <a:buFont typeface="Arial"/>
              <a:buNone/>
            </a:pPr>
            <a:endParaRPr sz="130"/>
          </a:p>
          <a:p>
            <a:pPr marL="0" lvl="0" indent="0" algn="ctr" rtl="0">
              <a:lnSpc>
                <a:spcPct val="80000"/>
              </a:lnSpc>
              <a:spcBef>
                <a:spcPts val="0"/>
              </a:spcBef>
              <a:spcAft>
                <a:spcPts val="0"/>
              </a:spcAft>
              <a:buClr>
                <a:schemeClr val="dk1"/>
              </a:buClr>
              <a:buSzPts val="523"/>
              <a:buFont typeface="Arial"/>
              <a:buNone/>
            </a:pPr>
            <a:r>
              <a:rPr lang="it" sz="2530"/>
              <a:t> Classical ML and NN approaches on TACRED/V dataset</a:t>
            </a:r>
            <a:endParaRPr sz="2530"/>
          </a:p>
          <a:p>
            <a:pPr marL="0" lvl="0" indent="0" algn="ctr" rtl="0">
              <a:lnSpc>
                <a:spcPct val="80000"/>
              </a:lnSpc>
              <a:spcBef>
                <a:spcPts val="0"/>
              </a:spcBef>
              <a:spcAft>
                <a:spcPts val="0"/>
              </a:spcAft>
              <a:buSzPts val="523"/>
              <a:buNone/>
            </a:pPr>
            <a:endParaRPr sz="1330"/>
          </a:p>
          <a:p>
            <a:pPr marL="0" lvl="0" indent="0" algn="ctr" rtl="0">
              <a:lnSpc>
                <a:spcPct val="80000"/>
              </a:lnSpc>
              <a:spcBef>
                <a:spcPts val="0"/>
              </a:spcBef>
              <a:spcAft>
                <a:spcPts val="0"/>
              </a:spcAft>
              <a:buSzPts val="523"/>
              <a:buNone/>
            </a:pPr>
            <a:r>
              <a:rPr lang="it" sz="1330" i="1"/>
              <a:t>Natural Language Processing and Information Extraction, TU Wien (2023W)</a:t>
            </a:r>
            <a:endParaRPr sz="1330" i="1"/>
          </a:p>
        </p:txBody>
      </p:sp>
      <p:sp>
        <p:nvSpPr>
          <p:cNvPr id="55" name="Google Shape;55;p13"/>
          <p:cNvSpPr txBox="1"/>
          <p:nvPr/>
        </p:nvSpPr>
        <p:spPr>
          <a:xfrm>
            <a:off x="4730600" y="3459825"/>
            <a:ext cx="3645000" cy="7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sz="1800">
                <a:solidFill>
                  <a:schemeClr val="dk2"/>
                </a:solidFill>
              </a:rPr>
              <a:t>Samuele D’Avenia (12302519) </a:t>
            </a:r>
            <a:endParaRPr sz="1800">
              <a:solidFill>
                <a:schemeClr val="dk2"/>
              </a:solidFill>
            </a:endParaRPr>
          </a:p>
          <a:p>
            <a:pPr marL="0" lvl="0" indent="0" algn="l" rtl="0">
              <a:spcBef>
                <a:spcPts val="0"/>
              </a:spcBef>
              <a:spcAft>
                <a:spcPts val="0"/>
              </a:spcAft>
              <a:buNone/>
            </a:pPr>
            <a:r>
              <a:rPr lang="it" sz="1800">
                <a:solidFill>
                  <a:schemeClr val="dk2"/>
                </a:solidFill>
              </a:rPr>
              <a:t>Maria Pronestì (12305796) </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56" name="Google Shape;56;p13"/>
          <p:cNvSpPr txBox="1"/>
          <p:nvPr/>
        </p:nvSpPr>
        <p:spPr>
          <a:xfrm>
            <a:off x="2671725" y="3034300"/>
            <a:ext cx="3200700" cy="68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it" sz="1800" b="1">
                <a:solidFill>
                  <a:schemeClr val="dk2"/>
                </a:solidFill>
              </a:rPr>
              <a:t>NLPizza</a:t>
            </a:r>
            <a:endParaRPr sz="1800" b="1">
              <a:solidFill>
                <a:schemeClr val="dk2"/>
              </a:solidFill>
            </a:endParaRPr>
          </a:p>
          <a:p>
            <a:pPr marL="0" lvl="0" indent="0" algn="l" rtl="0">
              <a:spcBef>
                <a:spcPts val="0"/>
              </a:spcBef>
              <a:spcAft>
                <a:spcPts val="0"/>
              </a:spcAft>
              <a:buNone/>
            </a:pPr>
            <a:endParaRPr sz="1800">
              <a:solidFill>
                <a:schemeClr val="dk2"/>
              </a:solidFill>
            </a:endParaRPr>
          </a:p>
        </p:txBody>
      </p:sp>
      <p:sp>
        <p:nvSpPr>
          <p:cNvPr id="57" name="Google Shape;57;p13"/>
          <p:cNvSpPr txBox="1"/>
          <p:nvPr/>
        </p:nvSpPr>
        <p:spPr>
          <a:xfrm>
            <a:off x="906450" y="3459825"/>
            <a:ext cx="3645000" cy="7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t" sz="1800">
                <a:solidFill>
                  <a:schemeClr val="dk2"/>
                </a:solidFill>
              </a:rPr>
              <a:t>Silvia Bonomi (12302476) </a:t>
            </a:r>
            <a:endParaRPr sz="1800">
              <a:solidFill>
                <a:schemeClr val="dk2"/>
              </a:solidFill>
            </a:endParaRPr>
          </a:p>
          <a:p>
            <a:pPr marL="0" lvl="0" indent="0" algn="l" rtl="0">
              <a:spcBef>
                <a:spcPts val="0"/>
              </a:spcBef>
              <a:spcAft>
                <a:spcPts val="0"/>
              </a:spcAft>
              <a:buClr>
                <a:schemeClr val="dk1"/>
              </a:buClr>
              <a:buSzPts val="1100"/>
              <a:buFont typeface="Arial"/>
              <a:buNone/>
            </a:pPr>
            <a:r>
              <a:rPr lang="it" sz="1800">
                <a:solidFill>
                  <a:schemeClr val="dk2"/>
                </a:solidFill>
              </a:rPr>
              <a:t>Andrea Nugara (12306319)</a:t>
            </a:r>
            <a:endParaRPr sz="1800">
              <a:solidFill>
                <a:schemeClr val="dk2"/>
              </a:solidFill>
            </a:endParaRPr>
          </a:p>
          <a:p>
            <a:pPr marL="0" lvl="0" indent="0" algn="l" rtl="0">
              <a:spcBef>
                <a:spcPts val="0"/>
              </a:spcBef>
              <a:spcAft>
                <a:spcPts val="0"/>
              </a:spcAft>
              <a:buNone/>
            </a:pPr>
            <a:endParaRPr sz="1800">
              <a:solidFill>
                <a:schemeClr val="dk2"/>
              </a:solidFill>
            </a:endParaRPr>
          </a:p>
        </p:txBody>
      </p:sp>
      <p:pic>
        <p:nvPicPr>
          <p:cNvPr id="58" name="Google Shape;58;p13"/>
          <p:cNvPicPr preferRelativeResize="0"/>
          <p:nvPr/>
        </p:nvPicPr>
        <p:blipFill>
          <a:blip r:embed="rId3">
            <a:alphaModFix/>
          </a:blip>
          <a:stretch>
            <a:fillRect/>
          </a:stretch>
        </p:blipFill>
        <p:spPr>
          <a:xfrm>
            <a:off x="124625" y="133275"/>
            <a:ext cx="3033748" cy="8843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idx="4294967295"/>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Relation Extraction (RE)</a:t>
            </a:r>
            <a:endParaRPr sz="3020" b="1"/>
          </a:p>
        </p:txBody>
      </p:sp>
      <p:sp>
        <p:nvSpPr>
          <p:cNvPr id="64" name="Google Shape;64;p14"/>
          <p:cNvSpPr txBox="1">
            <a:spLocks noGrp="1"/>
          </p:cNvSpPr>
          <p:nvPr>
            <p:ph type="body" idx="4294967295"/>
          </p:nvPr>
        </p:nvSpPr>
        <p:spPr>
          <a:xfrm>
            <a:off x="311700" y="1152475"/>
            <a:ext cx="8520600" cy="169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200"/>
              <a:t>Relation extraction is the task of extracting relationships between concepts and entities from text.</a:t>
            </a:r>
            <a:endParaRPr sz="2200"/>
          </a:p>
          <a:p>
            <a:pPr marL="0" lvl="0" indent="0" algn="l" rtl="0">
              <a:spcBef>
                <a:spcPts val="1200"/>
              </a:spcBef>
              <a:spcAft>
                <a:spcPts val="1200"/>
              </a:spcAft>
              <a:buNone/>
            </a:pPr>
            <a:r>
              <a:rPr lang="it" sz="2200"/>
              <a:t>Focus on task of </a:t>
            </a:r>
            <a:r>
              <a:rPr lang="it" sz="2200" b="1">
                <a:solidFill>
                  <a:srgbClr val="FF9900"/>
                </a:solidFill>
              </a:rPr>
              <a:t>slot filling</a:t>
            </a:r>
            <a:r>
              <a:rPr lang="it" sz="2200"/>
              <a:t>, i.e. given a sentence along with the subject and object identify the relationship between the two.</a:t>
            </a:r>
            <a:endParaRPr sz="2200"/>
          </a:p>
        </p:txBody>
      </p:sp>
      <p:sp>
        <p:nvSpPr>
          <p:cNvPr id="65" name="Google Shape;65;p14"/>
          <p:cNvSpPr txBox="1"/>
          <p:nvPr/>
        </p:nvSpPr>
        <p:spPr>
          <a:xfrm>
            <a:off x="311700" y="3566900"/>
            <a:ext cx="4470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2000" b="1" i="1">
                <a:solidFill>
                  <a:schemeClr val="dk2"/>
                </a:solidFill>
              </a:rPr>
              <a:t>Mark</a:t>
            </a:r>
            <a:r>
              <a:rPr lang="it" sz="2000" i="1">
                <a:solidFill>
                  <a:schemeClr val="dk2"/>
                </a:solidFill>
              </a:rPr>
              <a:t> is survived by his brother </a:t>
            </a:r>
            <a:r>
              <a:rPr lang="it" sz="2000" b="1" i="1">
                <a:solidFill>
                  <a:schemeClr val="dk2"/>
                </a:solidFill>
              </a:rPr>
              <a:t>John</a:t>
            </a:r>
            <a:r>
              <a:rPr lang="it" sz="2000" i="1">
                <a:solidFill>
                  <a:schemeClr val="dk2"/>
                </a:solidFill>
              </a:rPr>
              <a:t>. </a:t>
            </a:r>
            <a:endParaRPr sz="2000" i="1">
              <a:solidFill>
                <a:schemeClr val="dk2"/>
              </a:solidFill>
            </a:endParaRPr>
          </a:p>
        </p:txBody>
      </p:sp>
      <p:sp>
        <p:nvSpPr>
          <p:cNvPr id="66" name="Google Shape;66;p14"/>
          <p:cNvSpPr/>
          <p:nvPr/>
        </p:nvSpPr>
        <p:spPr>
          <a:xfrm>
            <a:off x="4828950" y="3675200"/>
            <a:ext cx="1202700" cy="249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 name="Google Shape;67;p14"/>
          <p:cNvSpPr txBox="1"/>
          <p:nvPr/>
        </p:nvSpPr>
        <p:spPr>
          <a:xfrm>
            <a:off x="5830325" y="3566900"/>
            <a:ext cx="23220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2000" i="1" u="sng">
                <a:solidFill>
                  <a:schemeClr val="dk2"/>
                </a:solidFill>
              </a:rPr>
              <a:t>per:siblings</a:t>
            </a:r>
            <a:endParaRPr sz="2000" i="1" u="sng">
              <a:solidFill>
                <a:schemeClr val="dk2"/>
              </a:solidFill>
            </a:endParaRPr>
          </a:p>
        </p:txBody>
      </p:sp>
      <p:sp>
        <p:nvSpPr>
          <p:cNvPr id="68" name="Google Shape;68;p14"/>
          <p:cNvSpPr txBox="1"/>
          <p:nvPr/>
        </p:nvSpPr>
        <p:spPr>
          <a:xfrm>
            <a:off x="4040100" y="3899600"/>
            <a:ext cx="742500" cy="21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i="1">
                <a:solidFill>
                  <a:schemeClr val="dk2"/>
                </a:solidFill>
              </a:rPr>
              <a:t>OBJ</a:t>
            </a:r>
            <a:endParaRPr i="1">
              <a:solidFill>
                <a:schemeClr val="dk2"/>
              </a:solidFill>
            </a:endParaRPr>
          </a:p>
          <a:p>
            <a:pPr marL="0" lvl="0" indent="0" algn="l" rtl="0">
              <a:spcBef>
                <a:spcPts val="0"/>
              </a:spcBef>
              <a:spcAft>
                <a:spcPts val="0"/>
              </a:spcAft>
              <a:buNone/>
            </a:pPr>
            <a:endParaRPr sz="1800">
              <a:solidFill>
                <a:schemeClr val="dk2"/>
              </a:solidFill>
            </a:endParaRPr>
          </a:p>
        </p:txBody>
      </p:sp>
      <p:sp>
        <p:nvSpPr>
          <p:cNvPr id="69" name="Google Shape;69;p14"/>
          <p:cNvSpPr txBox="1"/>
          <p:nvPr/>
        </p:nvSpPr>
        <p:spPr>
          <a:xfrm>
            <a:off x="387900" y="3899600"/>
            <a:ext cx="742500" cy="21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i="1">
                <a:solidFill>
                  <a:schemeClr val="dk2"/>
                </a:solidFill>
              </a:rPr>
              <a:t>SUBJ</a:t>
            </a:r>
            <a:endParaRPr i="1">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idx="4294967295"/>
          </p:nvPr>
        </p:nvSpPr>
        <p:spPr>
          <a:xfrm>
            <a:off x="311700" y="3143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Datasets</a:t>
            </a:r>
            <a:endParaRPr sz="3020" b="1"/>
          </a:p>
        </p:txBody>
      </p:sp>
      <p:sp>
        <p:nvSpPr>
          <p:cNvPr id="75" name="Google Shape;75;p15"/>
          <p:cNvSpPr txBox="1">
            <a:spLocks noGrp="1"/>
          </p:cNvSpPr>
          <p:nvPr>
            <p:ph type="body" idx="4294967295"/>
          </p:nvPr>
        </p:nvSpPr>
        <p:spPr>
          <a:xfrm>
            <a:off x="311700" y="1200375"/>
            <a:ext cx="8520600" cy="1972200"/>
          </a:xfrm>
          <a:prstGeom prst="rect">
            <a:avLst/>
          </a:prstGeom>
        </p:spPr>
        <p:txBody>
          <a:bodyPr spcFirstLastPara="1" wrap="square" lIns="91425" tIns="91425" rIns="91425" bIns="91425" anchor="t" anchorCtr="0">
            <a:normAutofit fontScale="32500"/>
          </a:bodyPr>
          <a:lstStyle/>
          <a:p>
            <a:pPr marL="0" lvl="0" indent="0" algn="l" rtl="0">
              <a:spcBef>
                <a:spcPts val="0"/>
              </a:spcBef>
              <a:spcAft>
                <a:spcPts val="0"/>
              </a:spcAft>
              <a:buNone/>
            </a:pPr>
            <a:r>
              <a:rPr lang="it" sz="6150" b="1"/>
              <a:t>TACRED </a:t>
            </a:r>
            <a:r>
              <a:rPr lang="it" sz="6150"/>
              <a:t>is a supervised relation extraction dataset, obtained via crowdsourcing and containing </a:t>
            </a:r>
            <a:r>
              <a:rPr lang="it" sz="6150">
                <a:solidFill>
                  <a:srgbClr val="FF9900"/>
                </a:solidFill>
              </a:rPr>
              <a:t>42 relations</a:t>
            </a:r>
            <a:r>
              <a:rPr lang="it" sz="6150"/>
              <a:t>. </a:t>
            </a:r>
            <a:r>
              <a:rPr lang="it" sz="3650"/>
              <a:t>[1]</a:t>
            </a:r>
            <a:endParaRPr sz="3650"/>
          </a:p>
          <a:p>
            <a:pPr marL="0" lvl="0" indent="0" algn="l" rtl="0">
              <a:spcBef>
                <a:spcPts val="1200"/>
              </a:spcBef>
              <a:spcAft>
                <a:spcPts val="1200"/>
              </a:spcAft>
              <a:buNone/>
            </a:pPr>
            <a:r>
              <a:rPr lang="it" sz="6150" b="1"/>
              <a:t>TACREV </a:t>
            </a:r>
            <a:r>
              <a:rPr lang="it" sz="6150"/>
              <a:t>is a revisited version, in which the most challenging examples have been reannoted by linguistic experts. </a:t>
            </a:r>
            <a:r>
              <a:rPr lang="it" sz="3650"/>
              <a:t>[2]</a:t>
            </a:r>
            <a:endParaRPr sz="3650" b="1"/>
          </a:p>
        </p:txBody>
      </p:sp>
      <p:sp>
        <p:nvSpPr>
          <p:cNvPr id="76" name="Google Shape;76;p15"/>
          <p:cNvSpPr txBox="1"/>
          <p:nvPr/>
        </p:nvSpPr>
        <p:spPr>
          <a:xfrm>
            <a:off x="456175" y="3782175"/>
            <a:ext cx="4115700" cy="20292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2"/>
              </a:buClr>
              <a:buSzPts val="2200"/>
              <a:buChar char="●"/>
            </a:pPr>
            <a:r>
              <a:rPr lang="it" sz="2200" i="1">
                <a:solidFill>
                  <a:schemeClr val="dk2"/>
                </a:solidFill>
              </a:rPr>
              <a:t>subj </a:t>
            </a:r>
            <a:r>
              <a:rPr lang="it" sz="2200">
                <a:solidFill>
                  <a:schemeClr val="dk2"/>
                </a:solidFill>
              </a:rPr>
              <a:t>and </a:t>
            </a:r>
            <a:r>
              <a:rPr lang="it" sz="2200" i="1">
                <a:solidFill>
                  <a:schemeClr val="dk2"/>
                </a:solidFill>
              </a:rPr>
              <a:t>subj_type</a:t>
            </a:r>
            <a:endParaRPr sz="2200" i="1">
              <a:solidFill>
                <a:schemeClr val="dk2"/>
              </a:solidFill>
            </a:endParaRPr>
          </a:p>
          <a:p>
            <a:pPr marL="457200" lvl="0" indent="-368300" algn="l" rtl="0">
              <a:spcBef>
                <a:spcPts val="0"/>
              </a:spcBef>
              <a:spcAft>
                <a:spcPts val="0"/>
              </a:spcAft>
              <a:buClr>
                <a:schemeClr val="dk2"/>
              </a:buClr>
              <a:buSzPts val="2200"/>
              <a:buChar char="●"/>
            </a:pPr>
            <a:r>
              <a:rPr lang="it" sz="2200" i="1">
                <a:solidFill>
                  <a:schemeClr val="dk2"/>
                </a:solidFill>
              </a:rPr>
              <a:t>standford_pos</a:t>
            </a:r>
            <a:endParaRPr sz="1800" i="1">
              <a:solidFill>
                <a:schemeClr val="dk2"/>
              </a:solidFill>
            </a:endParaRPr>
          </a:p>
        </p:txBody>
      </p:sp>
      <p:sp>
        <p:nvSpPr>
          <p:cNvPr id="77" name="Google Shape;77;p15"/>
          <p:cNvSpPr txBox="1"/>
          <p:nvPr/>
        </p:nvSpPr>
        <p:spPr>
          <a:xfrm>
            <a:off x="4716600" y="3847650"/>
            <a:ext cx="4115700" cy="20292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2"/>
              </a:buClr>
              <a:buSzPts val="2200"/>
              <a:buChar char="●"/>
            </a:pPr>
            <a:r>
              <a:rPr lang="it" sz="2200" i="1">
                <a:solidFill>
                  <a:schemeClr val="dk2"/>
                </a:solidFill>
              </a:rPr>
              <a:t>obj </a:t>
            </a:r>
            <a:r>
              <a:rPr lang="it" sz="2200">
                <a:solidFill>
                  <a:schemeClr val="dk2"/>
                </a:solidFill>
              </a:rPr>
              <a:t>and </a:t>
            </a:r>
            <a:r>
              <a:rPr lang="it" sz="2200" i="1">
                <a:solidFill>
                  <a:schemeClr val="dk2"/>
                </a:solidFill>
              </a:rPr>
              <a:t>obj_type</a:t>
            </a:r>
            <a:endParaRPr sz="2200" i="1">
              <a:solidFill>
                <a:schemeClr val="dk2"/>
              </a:solidFill>
            </a:endParaRPr>
          </a:p>
          <a:p>
            <a:pPr marL="457200" lvl="0" indent="-368300" algn="l" rtl="0">
              <a:spcBef>
                <a:spcPts val="0"/>
              </a:spcBef>
              <a:spcAft>
                <a:spcPts val="0"/>
              </a:spcAft>
              <a:buClr>
                <a:schemeClr val="dk2"/>
              </a:buClr>
              <a:buSzPts val="2200"/>
              <a:buChar char="●"/>
            </a:pPr>
            <a:r>
              <a:rPr lang="it" sz="2200" i="1">
                <a:solidFill>
                  <a:schemeClr val="dk2"/>
                </a:solidFill>
              </a:rPr>
              <a:t>standford_ner</a:t>
            </a:r>
            <a:endParaRPr sz="2200" i="1">
              <a:solidFill>
                <a:schemeClr val="dk2"/>
              </a:solidFill>
            </a:endParaRPr>
          </a:p>
        </p:txBody>
      </p:sp>
      <p:sp>
        <p:nvSpPr>
          <p:cNvPr id="78" name="Google Shape;78;p15"/>
          <p:cNvSpPr txBox="1">
            <a:spLocks noGrp="1"/>
          </p:cNvSpPr>
          <p:nvPr>
            <p:ph type="title" idx="4294967295"/>
          </p:nvPr>
        </p:nvSpPr>
        <p:spPr>
          <a:xfrm>
            <a:off x="2970775" y="3361875"/>
            <a:ext cx="271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220"/>
              <a:t>Features of interest</a:t>
            </a:r>
            <a:endParaRPr sz="2220"/>
          </a:p>
        </p:txBody>
      </p:sp>
      <p:sp>
        <p:nvSpPr>
          <p:cNvPr id="79" name="Google Shape;79;p15"/>
          <p:cNvSpPr txBox="1"/>
          <p:nvPr/>
        </p:nvSpPr>
        <p:spPr>
          <a:xfrm>
            <a:off x="5698600" y="2857500"/>
            <a:ext cx="3426300" cy="6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sz="1800">
                <a:solidFill>
                  <a:schemeClr val="dk2"/>
                </a:solidFill>
              </a:rPr>
              <a:t>Used for validation and testing</a:t>
            </a:r>
            <a:endParaRPr sz="1800">
              <a:solidFill>
                <a:schemeClr val="dk2"/>
              </a:solidFill>
            </a:endParaRPr>
          </a:p>
        </p:txBody>
      </p:sp>
      <p:sp>
        <p:nvSpPr>
          <p:cNvPr id="80" name="Google Shape;80;p15"/>
          <p:cNvSpPr/>
          <p:nvPr/>
        </p:nvSpPr>
        <p:spPr>
          <a:xfrm rot="5400000">
            <a:off x="4638950" y="2156475"/>
            <a:ext cx="422700" cy="1668600"/>
          </a:xfrm>
          <a:prstGeom prst="bentUpArrow">
            <a:avLst>
              <a:gd name="adj1" fmla="val 26477"/>
              <a:gd name="adj2" fmla="val 25000"/>
              <a:gd name="adj3"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body" idx="4294967295"/>
          </p:nvPr>
        </p:nvSpPr>
        <p:spPr>
          <a:xfrm>
            <a:off x="311700" y="395050"/>
            <a:ext cx="4159200" cy="3976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 sz="2200" b="1"/>
              <a:t>Preprocessing</a:t>
            </a:r>
            <a:r>
              <a:rPr lang="it" sz="2200"/>
              <a:t>:</a:t>
            </a:r>
            <a:endParaRPr sz="2200"/>
          </a:p>
          <a:p>
            <a:pPr marL="0" lvl="0" indent="0" algn="l" rtl="0">
              <a:spcBef>
                <a:spcPts val="1200"/>
              </a:spcBef>
              <a:spcAft>
                <a:spcPts val="0"/>
              </a:spcAft>
              <a:buNone/>
            </a:pPr>
            <a:endParaRPr sz="100"/>
          </a:p>
          <a:p>
            <a:pPr marL="457200" lvl="0" indent="-368300" algn="l" rtl="0">
              <a:spcBef>
                <a:spcPts val="1200"/>
              </a:spcBef>
              <a:spcAft>
                <a:spcPts val="0"/>
              </a:spcAft>
              <a:buSzPts val="2200"/>
              <a:buChar char="●"/>
            </a:pPr>
            <a:r>
              <a:rPr lang="it" sz="2200"/>
              <a:t>Stopwords carry information about the relations.</a:t>
            </a:r>
            <a:endParaRPr sz="2200"/>
          </a:p>
          <a:p>
            <a:pPr marL="0" lvl="0" indent="0" algn="l" rtl="0">
              <a:spcBef>
                <a:spcPts val="1200"/>
              </a:spcBef>
              <a:spcAft>
                <a:spcPts val="0"/>
              </a:spcAft>
              <a:buNone/>
            </a:pPr>
            <a:endParaRPr sz="1100"/>
          </a:p>
          <a:p>
            <a:pPr marL="457200" lvl="0" indent="0" algn="l" rtl="0">
              <a:spcBef>
                <a:spcPts val="1200"/>
              </a:spcBef>
              <a:spcAft>
                <a:spcPts val="0"/>
              </a:spcAft>
              <a:buNone/>
            </a:pPr>
            <a:endParaRPr sz="2200"/>
          </a:p>
          <a:p>
            <a:pPr marL="457200" lvl="0" indent="-368300" algn="l" rtl="0">
              <a:spcBef>
                <a:spcPts val="1200"/>
              </a:spcBef>
              <a:spcAft>
                <a:spcPts val="0"/>
              </a:spcAft>
              <a:buSzPts val="2200"/>
              <a:buChar char="●"/>
            </a:pPr>
            <a:r>
              <a:rPr lang="it" sz="2200"/>
              <a:t>Similar issues with application of lemmatization and stemming.</a:t>
            </a:r>
            <a:endParaRPr sz="2200"/>
          </a:p>
        </p:txBody>
      </p:sp>
      <p:sp>
        <p:nvSpPr>
          <p:cNvPr id="86" name="Google Shape;86;p16"/>
          <p:cNvSpPr txBox="1"/>
          <p:nvPr/>
        </p:nvSpPr>
        <p:spPr>
          <a:xfrm>
            <a:off x="-1026675" y="2054325"/>
            <a:ext cx="4470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1700" b="1" i="1">
                <a:solidFill>
                  <a:schemeClr val="dk2"/>
                </a:solidFill>
              </a:rPr>
              <a:t>Mark</a:t>
            </a:r>
            <a:r>
              <a:rPr lang="it" sz="1700" i="1">
                <a:solidFill>
                  <a:schemeClr val="dk2"/>
                </a:solidFill>
              </a:rPr>
              <a:t> is from </a:t>
            </a:r>
            <a:r>
              <a:rPr lang="it" sz="1700" b="1" i="1">
                <a:solidFill>
                  <a:schemeClr val="dk2"/>
                </a:solidFill>
              </a:rPr>
              <a:t>Paris</a:t>
            </a:r>
            <a:r>
              <a:rPr lang="it" sz="1700" i="1">
                <a:solidFill>
                  <a:schemeClr val="dk2"/>
                </a:solidFill>
              </a:rPr>
              <a:t> </a:t>
            </a:r>
            <a:endParaRPr sz="1700" i="1">
              <a:solidFill>
                <a:schemeClr val="dk2"/>
              </a:solidFill>
            </a:endParaRPr>
          </a:p>
        </p:txBody>
      </p:sp>
      <p:sp>
        <p:nvSpPr>
          <p:cNvPr id="87" name="Google Shape;87;p16"/>
          <p:cNvSpPr/>
          <p:nvPr/>
        </p:nvSpPr>
        <p:spPr>
          <a:xfrm>
            <a:off x="2297675" y="2157850"/>
            <a:ext cx="765600" cy="246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 name="Google Shape;88;p16"/>
          <p:cNvSpPr txBox="1"/>
          <p:nvPr/>
        </p:nvSpPr>
        <p:spPr>
          <a:xfrm>
            <a:off x="2649050" y="2049550"/>
            <a:ext cx="23220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1700" b="1" i="1">
                <a:solidFill>
                  <a:schemeClr val="dk2"/>
                </a:solidFill>
              </a:rPr>
              <a:t>Mark Paris</a:t>
            </a:r>
            <a:endParaRPr sz="1700" b="1" i="1">
              <a:solidFill>
                <a:schemeClr val="dk2"/>
              </a:solidFill>
            </a:endParaRPr>
          </a:p>
        </p:txBody>
      </p:sp>
      <p:sp>
        <p:nvSpPr>
          <p:cNvPr id="89" name="Google Shape;89;p16"/>
          <p:cNvSpPr txBox="1"/>
          <p:nvPr/>
        </p:nvSpPr>
        <p:spPr>
          <a:xfrm>
            <a:off x="1476600" y="2331550"/>
            <a:ext cx="23220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1300" i="1">
                <a:solidFill>
                  <a:schemeClr val="dk2"/>
                </a:solidFill>
              </a:rPr>
              <a:t>Remove stopwords</a:t>
            </a:r>
            <a:endParaRPr sz="1300" i="1">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body" idx="4294967295"/>
          </p:nvPr>
        </p:nvSpPr>
        <p:spPr>
          <a:xfrm>
            <a:off x="311700" y="395050"/>
            <a:ext cx="4159200" cy="3976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 sz="2200" b="1"/>
              <a:t>Preprocessing</a:t>
            </a:r>
            <a:r>
              <a:rPr lang="it" sz="2200"/>
              <a:t>:</a:t>
            </a:r>
            <a:endParaRPr sz="2200"/>
          </a:p>
          <a:p>
            <a:pPr marL="0" lvl="0" indent="0" algn="l" rtl="0">
              <a:spcBef>
                <a:spcPts val="1200"/>
              </a:spcBef>
              <a:spcAft>
                <a:spcPts val="0"/>
              </a:spcAft>
              <a:buNone/>
            </a:pPr>
            <a:endParaRPr sz="100"/>
          </a:p>
          <a:p>
            <a:pPr marL="457200" lvl="0" indent="-368300" algn="l" rtl="0">
              <a:spcBef>
                <a:spcPts val="1200"/>
              </a:spcBef>
              <a:spcAft>
                <a:spcPts val="0"/>
              </a:spcAft>
              <a:buSzPts val="2200"/>
              <a:buChar char="●"/>
            </a:pPr>
            <a:r>
              <a:rPr lang="it" sz="2200"/>
              <a:t>Stopwords carry information about the relations.</a:t>
            </a:r>
            <a:endParaRPr sz="2200"/>
          </a:p>
          <a:p>
            <a:pPr marL="0" lvl="0" indent="0" algn="l" rtl="0">
              <a:spcBef>
                <a:spcPts val="1200"/>
              </a:spcBef>
              <a:spcAft>
                <a:spcPts val="0"/>
              </a:spcAft>
              <a:buNone/>
            </a:pPr>
            <a:endParaRPr sz="1100"/>
          </a:p>
          <a:p>
            <a:pPr marL="457200" lvl="0" indent="0" algn="l" rtl="0">
              <a:spcBef>
                <a:spcPts val="1200"/>
              </a:spcBef>
              <a:spcAft>
                <a:spcPts val="0"/>
              </a:spcAft>
              <a:buNone/>
            </a:pPr>
            <a:endParaRPr sz="2200"/>
          </a:p>
          <a:p>
            <a:pPr marL="457200" lvl="0" indent="-368300" algn="l" rtl="0">
              <a:spcBef>
                <a:spcPts val="1200"/>
              </a:spcBef>
              <a:spcAft>
                <a:spcPts val="0"/>
              </a:spcAft>
              <a:buSzPts val="2200"/>
              <a:buChar char="●"/>
            </a:pPr>
            <a:r>
              <a:rPr lang="it" sz="2200"/>
              <a:t>Similar issues with application of lemmatization and stemming.</a:t>
            </a:r>
            <a:endParaRPr sz="2200"/>
          </a:p>
        </p:txBody>
      </p:sp>
      <p:sp>
        <p:nvSpPr>
          <p:cNvPr id="95" name="Google Shape;95;p17"/>
          <p:cNvSpPr txBox="1"/>
          <p:nvPr/>
        </p:nvSpPr>
        <p:spPr>
          <a:xfrm>
            <a:off x="-1026675" y="2054325"/>
            <a:ext cx="4470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1700" b="1" i="1">
                <a:solidFill>
                  <a:schemeClr val="dk2"/>
                </a:solidFill>
              </a:rPr>
              <a:t>Mark</a:t>
            </a:r>
            <a:r>
              <a:rPr lang="it" sz="1700" i="1">
                <a:solidFill>
                  <a:schemeClr val="dk2"/>
                </a:solidFill>
              </a:rPr>
              <a:t> is from </a:t>
            </a:r>
            <a:r>
              <a:rPr lang="it" sz="1700" b="1" i="1">
                <a:solidFill>
                  <a:schemeClr val="dk2"/>
                </a:solidFill>
              </a:rPr>
              <a:t>Paris</a:t>
            </a:r>
            <a:r>
              <a:rPr lang="it" sz="1700" i="1">
                <a:solidFill>
                  <a:schemeClr val="dk2"/>
                </a:solidFill>
              </a:rPr>
              <a:t> </a:t>
            </a:r>
            <a:endParaRPr sz="1700" i="1">
              <a:solidFill>
                <a:schemeClr val="dk2"/>
              </a:solidFill>
            </a:endParaRPr>
          </a:p>
        </p:txBody>
      </p:sp>
      <p:sp>
        <p:nvSpPr>
          <p:cNvPr id="96" name="Google Shape;96;p17"/>
          <p:cNvSpPr/>
          <p:nvPr/>
        </p:nvSpPr>
        <p:spPr>
          <a:xfrm>
            <a:off x="2297675" y="2157850"/>
            <a:ext cx="765600" cy="246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 name="Google Shape;97;p17"/>
          <p:cNvSpPr txBox="1"/>
          <p:nvPr/>
        </p:nvSpPr>
        <p:spPr>
          <a:xfrm>
            <a:off x="2649050" y="2049550"/>
            <a:ext cx="23220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1700" b="1" i="1">
                <a:solidFill>
                  <a:schemeClr val="dk2"/>
                </a:solidFill>
              </a:rPr>
              <a:t>Mark Paris</a:t>
            </a:r>
            <a:endParaRPr sz="1700" b="1" i="1">
              <a:solidFill>
                <a:schemeClr val="dk2"/>
              </a:solidFill>
            </a:endParaRPr>
          </a:p>
        </p:txBody>
      </p:sp>
      <p:sp>
        <p:nvSpPr>
          <p:cNvPr id="98" name="Google Shape;98;p17"/>
          <p:cNvSpPr txBox="1"/>
          <p:nvPr/>
        </p:nvSpPr>
        <p:spPr>
          <a:xfrm>
            <a:off x="1476600" y="2331550"/>
            <a:ext cx="23220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1300" i="1">
                <a:solidFill>
                  <a:schemeClr val="dk2"/>
                </a:solidFill>
              </a:rPr>
              <a:t>Remove stopwords</a:t>
            </a:r>
            <a:endParaRPr sz="1300" i="1">
              <a:solidFill>
                <a:schemeClr val="dk2"/>
              </a:solidFill>
            </a:endParaRPr>
          </a:p>
        </p:txBody>
      </p:sp>
      <p:sp>
        <p:nvSpPr>
          <p:cNvPr id="99" name="Google Shape;99;p17"/>
          <p:cNvSpPr txBox="1">
            <a:spLocks noGrp="1"/>
          </p:cNvSpPr>
          <p:nvPr>
            <p:ph type="body" idx="4294967295"/>
          </p:nvPr>
        </p:nvSpPr>
        <p:spPr>
          <a:xfrm>
            <a:off x="4795700" y="422800"/>
            <a:ext cx="4159200" cy="47412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it" sz="2200" b="1"/>
              <a:t>Relation specific regex:</a:t>
            </a:r>
            <a:endParaRPr sz="2200" b="1"/>
          </a:p>
          <a:p>
            <a:pPr marL="0" lvl="0" indent="0" algn="l" rtl="0">
              <a:spcBef>
                <a:spcPts val="1200"/>
              </a:spcBef>
              <a:spcAft>
                <a:spcPts val="0"/>
              </a:spcAft>
              <a:buNone/>
            </a:pPr>
            <a:endParaRPr sz="100" b="1"/>
          </a:p>
          <a:p>
            <a:pPr marL="0" lvl="0" indent="0" algn="l" rtl="0">
              <a:spcBef>
                <a:spcPts val="1200"/>
              </a:spcBef>
              <a:spcAft>
                <a:spcPts val="0"/>
              </a:spcAft>
              <a:buNone/>
            </a:pPr>
            <a:r>
              <a:rPr lang="it" sz="2200" i="1" u="sng"/>
              <a:t>per:spouse</a:t>
            </a:r>
            <a:r>
              <a:rPr lang="it" sz="2200" i="1"/>
              <a:t> </a:t>
            </a:r>
            <a:r>
              <a:rPr lang="it" sz="2200"/>
              <a:t>check if marry/married/… occurs between subject and object.</a:t>
            </a:r>
            <a:endParaRPr sz="2200"/>
          </a:p>
          <a:p>
            <a:pPr marL="457200" lvl="0" indent="-368300" algn="l" rtl="0">
              <a:spcBef>
                <a:spcPts val="1200"/>
              </a:spcBef>
              <a:spcAft>
                <a:spcPts val="0"/>
              </a:spcAft>
              <a:buClr>
                <a:srgbClr val="188038"/>
              </a:buClr>
              <a:buSzPts val="2200"/>
              <a:buChar char="+"/>
            </a:pPr>
            <a:r>
              <a:rPr lang="it" sz="2200"/>
              <a:t>Extremely fast</a:t>
            </a:r>
            <a:endParaRPr sz="2200"/>
          </a:p>
          <a:p>
            <a:pPr marL="457200" lvl="0" indent="-368300" algn="l" rtl="0">
              <a:spcBef>
                <a:spcPts val="0"/>
              </a:spcBef>
              <a:spcAft>
                <a:spcPts val="0"/>
              </a:spcAft>
              <a:buClr>
                <a:srgbClr val="188038"/>
              </a:buClr>
              <a:buSzPts val="2200"/>
              <a:buChar char="+"/>
            </a:pPr>
            <a:r>
              <a:rPr lang="it" sz="2200"/>
              <a:t>Explainable</a:t>
            </a:r>
            <a:endParaRPr sz="2200"/>
          </a:p>
          <a:p>
            <a:pPr marL="457200" lvl="0" indent="0" algn="l" rtl="0">
              <a:spcBef>
                <a:spcPts val="1200"/>
              </a:spcBef>
              <a:spcAft>
                <a:spcPts val="0"/>
              </a:spcAft>
              <a:buNone/>
            </a:pPr>
            <a:endParaRPr sz="1194"/>
          </a:p>
          <a:p>
            <a:pPr marL="457200" lvl="0" indent="-368300" algn="l" rtl="0">
              <a:spcBef>
                <a:spcPts val="1200"/>
              </a:spcBef>
              <a:spcAft>
                <a:spcPts val="0"/>
              </a:spcAft>
              <a:buClr>
                <a:srgbClr val="FF0000"/>
              </a:buClr>
              <a:buSzPts val="2200"/>
              <a:buChar char="-"/>
            </a:pPr>
            <a:r>
              <a:rPr lang="it" sz="2200"/>
              <a:t>Many patterns to design</a:t>
            </a:r>
            <a:endParaRPr sz="2200"/>
          </a:p>
          <a:p>
            <a:pPr marL="457200" lvl="0" indent="-368300" algn="l" rtl="0">
              <a:spcBef>
                <a:spcPts val="0"/>
              </a:spcBef>
              <a:spcAft>
                <a:spcPts val="0"/>
              </a:spcAft>
              <a:buClr>
                <a:srgbClr val="FF0000"/>
              </a:buClr>
              <a:buSzPts val="2200"/>
              <a:buChar char="-"/>
            </a:pPr>
            <a:r>
              <a:rPr lang="it" sz="2200"/>
              <a:t>Does not work well when subj and obj are distant</a:t>
            </a:r>
            <a:endParaRPr sz="2200"/>
          </a:p>
          <a:p>
            <a:pPr marL="457200" lvl="0" indent="0" algn="l" rtl="0">
              <a:spcBef>
                <a:spcPts val="1200"/>
              </a:spcBef>
              <a:spcAft>
                <a:spcPts val="1200"/>
              </a:spcAft>
              <a:buNone/>
            </a:pP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body" idx="1"/>
          </p:nvPr>
        </p:nvSpPr>
        <p:spPr>
          <a:xfrm>
            <a:off x="311700" y="917300"/>
            <a:ext cx="8520600" cy="34164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523"/>
              <a:buNone/>
            </a:pPr>
            <a:r>
              <a:rPr lang="it" sz="2000" b="1"/>
              <a:t>EMBEDDINGS</a:t>
            </a:r>
            <a:endParaRPr sz="2000" b="1"/>
          </a:p>
          <a:p>
            <a:pPr marL="457200" lvl="0" indent="-355600" algn="l" rtl="0">
              <a:lnSpc>
                <a:spcPct val="105000"/>
              </a:lnSpc>
              <a:spcBef>
                <a:spcPts val="1200"/>
              </a:spcBef>
              <a:spcAft>
                <a:spcPts val="0"/>
              </a:spcAft>
              <a:buSzPts val="2000"/>
              <a:buChar char="●"/>
            </a:pPr>
            <a:r>
              <a:rPr lang="it" sz="2000">
                <a:solidFill>
                  <a:srgbClr val="FF9900"/>
                </a:solidFill>
              </a:rPr>
              <a:t>FastText</a:t>
            </a:r>
            <a:r>
              <a:rPr lang="it" sz="2000">
                <a:solidFill>
                  <a:schemeClr val="accent1"/>
                </a:solidFill>
              </a:rPr>
              <a:t> </a:t>
            </a:r>
            <a:r>
              <a:rPr lang="it" sz="2000"/>
              <a:t>(100 dimensions) pretrained model: mean of embeddings for each sentence</a:t>
            </a:r>
            <a:endParaRPr sz="2000"/>
          </a:p>
          <a:p>
            <a:pPr marL="0" lvl="0" indent="0" algn="l" rtl="0">
              <a:lnSpc>
                <a:spcPct val="105000"/>
              </a:lnSpc>
              <a:spcBef>
                <a:spcPts val="1200"/>
              </a:spcBef>
              <a:spcAft>
                <a:spcPts val="0"/>
              </a:spcAft>
              <a:buSzPts val="523"/>
              <a:buNone/>
            </a:pPr>
            <a:r>
              <a:rPr lang="it" sz="2000" b="1"/>
              <a:t>ADDITIONAL FEATURES</a:t>
            </a:r>
            <a:endParaRPr sz="2000" b="1"/>
          </a:p>
          <a:p>
            <a:pPr marL="457200" lvl="0" indent="-355600" algn="l" rtl="0">
              <a:lnSpc>
                <a:spcPct val="105000"/>
              </a:lnSpc>
              <a:spcBef>
                <a:spcPts val="1200"/>
              </a:spcBef>
              <a:spcAft>
                <a:spcPts val="0"/>
              </a:spcAft>
              <a:buSzPts val="2000"/>
              <a:buChar char="●"/>
            </a:pPr>
            <a:r>
              <a:rPr lang="it" sz="2000"/>
              <a:t>Distance between subject and object.</a:t>
            </a:r>
            <a:endParaRPr sz="2000"/>
          </a:p>
          <a:p>
            <a:pPr marL="457200" lvl="0" indent="-355600" algn="l" rtl="0">
              <a:lnSpc>
                <a:spcPct val="105000"/>
              </a:lnSpc>
              <a:spcBef>
                <a:spcPts val="0"/>
              </a:spcBef>
              <a:spcAft>
                <a:spcPts val="0"/>
              </a:spcAft>
              <a:buSzPts val="2000"/>
              <a:buChar char="●"/>
            </a:pPr>
            <a:r>
              <a:rPr lang="it" sz="2000"/>
              <a:t>Cosine similarity between subject and object embeddings </a:t>
            </a:r>
            <a:endParaRPr sz="2000"/>
          </a:p>
          <a:p>
            <a:pPr marL="457200" lvl="0" indent="-355600" algn="l" rtl="0">
              <a:lnSpc>
                <a:spcPct val="105000"/>
              </a:lnSpc>
              <a:spcBef>
                <a:spcPts val="0"/>
              </a:spcBef>
              <a:spcAft>
                <a:spcPts val="0"/>
              </a:spcAft>
              <a:buSzPts val="2000"/>
              <a:buChar char="●"/>
            </a:pPr>
            <a:r>
              <a:rPr lang="it" sz="2000"/>
              <a:t>One hot encoding of subj_types and object_types.</a:t>
            </a:r>
            <a:endParaRPr sz="2000"/>
          </a:p>
          <a:p>
            <a:pPr marL="457200" lvl="0" indent="-355600" algn="l" rtl="0">
              <a:lnSpc>
                <a:spcPct val="105000"/>
              </a:lnSpc>
              <a:spcBef>
                <a:spcPts val="0"/>
              </a:spcBef>
              <a:spcAft>
                <a:spcPts val="0"/>
              </a:spcAft>
              <a:buSzPts val="2000"/>
              <a:buChar char="●"/>
            </a:pPr>
            <a:r>
              <a:rPr lang="it" sz="2000"/>
              <a:t>One hot encoding of Standford POS.</a:t>
            </a:r>
            <a:endParaRPr sz="2000"/>
          </a:p>
          <a:p>
            <a:pPr marL="0" marR="0" lvl="0" indent="0" algn="l" rtl="0">
              <a:lnSpc>
                <a:spcPct val="105000"/>
              </a:lnSpc>
              <a:spcBef>
                <a:spcPts val="1200"/>
              </a:spcBef>
              <a:spcAft>
                <a:spcPts val="0"/>
              </a:spcAft>
              <a:buNone/>
            </a:pPr>
            <a:r>
              <a:rPr lang="it" sz="2000" b="1"/>
              <a:t>CLASSIFIER</a:t>
            </a:r>
            <a:endParaRPr sz="2000"/>
          </a:p>
          <a:p>
            <a:pPr marL="457200" marR="0" lvl="0" indent="-355600" algn="l" rtl="0">
              <a:lnSpc>
                <a:spcPct val="105000"/>
              </a:lnSpc>
              <a:spcBef>
                <a:spcPts val="1200"/>
              </a:spcBef>
              <a:spcAft>
                <a:spcPts val="0"/>
              </a:spcAft>
              <a:buSzPts val="2000"/>
              <a:buChar char="●"/>
            </a:pPr>
            <a:r>
              <a:rPr lang="it" sz="2000"/>
              <a:t>Balanced class weights to handle class imbalance</a:t>
            </a:r>
            <a:endParaRPr sz="2000"/>
          </a:p>
        </p:txBody>
      </p:sp>
      <p:sp>
        <p:nvSpPr>
          <p:cNvPr id="105" name="Google Shape;105;p18"/>
          <p:cNvSpPr txBox="1"/>
          <p:nvPr/>
        </p:nvSpPr>
        <p:spPr>
          <a:xfrm>
            <a:off x="4414950" y="2272850"/>
            <a:ext cx="314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800">
              <a:solidFill>
                <a:schemeClr val="dk2"/>
              </a:solidFill>
            </a:endParaRPr>
          </a:p>
        </p:txBody>
      </p:sp>
      <p:sp>
        <p:nvSpPr>
          <p:cNvPr id="106" name="Google Shape;106;p18"/>
          <p:cNvSpPr txBox="1"/>
          <p:nvPr/>
        </p:nvSpPr>
        <p:spPr>
          <a:xfrm>
            <a:off x="4967500" y="2272850"/>
            <a:ext cx="314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800">
              <a:solidFill>
                <a:schemeClr val="dk2"/>
              </a:solidFill>
            </a:endParaRPr>
          </a:p>
        </p:txBody>
      </p:sp>
      <p:sp>
        <p:nvSpPr>
          <p:cNvPr id="107" name="Google Shape;107;p18"/>
          <p:cNvSpPr txBox="1">
            <a:spLocks noGrp="1"/>
          </p:cNvSpPr>
          <p:nvPr>
            <p:ph type="title"/>
          </p:nvPr>
        </p:nvSpPr>
        <p:spPr>
          <a:xfrm>
            <a:off x="311700" y="1619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Random Forest</a:t>
            </a:r>
            <a:endParaRPr sz="302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a:spLocks noGrp="1"/>
          </p:cNvSpPr>
          <p:nvPr>
            <p:ph type="title"/>
          </p:nvPr>
        </p:nvSpPr>
        <p:spPr>
          <a:xfrm>
            <a:off x="515700" y="41400"/>
            <a:ext cx="8316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6423"/>
              <a:buFont typeface="Arial"/>
              <a:buNone/>
            </a:pPr>
            <a:r>
              <a:rPr lang="it" sz="3020" b="1"/>
              <a:t>Results RF</a:t>
            </a:r>
            <a:endParaRPr b="1"/>
          </a:p>
          <a:p>
            <a:pPr marL="0" lvl="0" indent="0" algn="l" rtl="0">
              <a:spcBef>
                <a:spcPts val="0"/>
              </a:spcBef>
              <a:spcAft>
                <a:spcPts val="0"/>
              </a:spcAft>
              <a:buNone/>
            </a:pPr>
            <a:endParaRPr/>
          </a:p>
        </p:txBody>
      </p:sp>
      <p:graphicFrame>
        <p:nvGraphicFramePr>
          <p:cNvPr id="113" name="Google Shape;113;p19"/>
          <p:cNvGraphicFramePr/>
          <p:nvPr>
            <p:extLst>
              <p:ext uri="{D42A27DB-BD31-4B8C-83A1-F6EECF244321}">
                <p14:modId xmlns:p14="http://schemas.microsoft.com/office/powerpoint/2010/main" val="1273428517"/>
              </p:ext>
            </p:extLst>
          </p:nvPr>
        </p:nvGraphicFramePr>
        <p:xfrm>
          <a:off x="534338" y="603775"/>
          <a:ext cx="8028075" cy="4591485"/>
        </p:xfrm>
        <a:graphic>
          <a:graphicData uri="http://schemas.openxmlformats.org/drawingml/2006/table">
            <a:tbl>
              <a:tblPr>
                <a:noFill/>
                <a:tableStyleId>{4D1C2B5F-1C65-4827-960B-BEEF89DE0A51}</a:tableStyleId>
              </a:tblPr>
              <a:tblGrid>
                <a:gridCol w="2563475">
                  <a:extLst>
                    <a:ext uri="{9D8B030D-6E8A-4147-A177-3AD203B41FA5}">
                      <a16:colId xmlns:a16="http://schemas.microsoft.com/office/drawing/2014/main" val="20000"/>
                    </a:ext>
                  </a:extLst>
                </a:gridCol>
                <a:gridCol w="1109325">
                  <a:extLst>
                    <a:ext uri="{9D8B030D-6E8A-4147-A177-3AD203B41FA5}">
                      <a16:colId xmlns:a16="http://schemas.microsoft.com/office/drawing/2014/main" val="20001"/>
                    </a:ext>
                  </a:extLst>
                </a:gridCol>
                <a:gridCol w="1109325">
                  <a:extLst>
                    <a:ext uri="{9D8B030D-6E8A-4147-A177-3AD203B41FA5}">
                      <a16:colId xmlns:a16="http://schemas.microsoft.com/office/drawing/2014/main" val="20002"/>
                    </a:ext>
                  </a:extLst>
                </a:gridCol>
                <a:gridCol w="1109325">
                  <a:extLst>
                    <a:ext uri="{9D8B030D-6E8A-4147-A177-3AD203B41FA5}">
                      <a16:colId xmlns:a16="http://schemas.microsoft.com/office/drawing/2014/main" val="20003"/>
                    </a:ext>
                  </a:extLst>
                </a:gridCol>
                <a:gridCol w="1094600">
                  <a:extLst>
                    <a:ext uri="{9D8B030D-6E8A-4147-A177-3AD203B41FA5}">
                      <a16:colId xmlns:a16="http://schemas.microsoft.com/office/drawing/2014/main" val="20004"/>
                    </a:ext>
                  </a:extLst>
                </a:gridCol>
                <a:gridCol w="1042025">
                  <a:extLst>
                    <a:ext uri="{9D8B030D-6E8A-4147-A177-3AD203B41FA5}">
                      <a16:colId xmlns:a16="http://schemas.microsoft.com/office/drawing/2014/main" val="20005"/>
                    </a:ext>
                  </a:extLst>
                </a:gridCol>
              </a:tblGrid>
              <a:tr h="422875">
                <a:tc>
                  <a:txBody>
                    <a:bodyPr/>
                    <a:lstStyle/>
                    <a:p>
                      <a:pPr marL="0" lvl="0" indent="0" algn="l" rtl="0">
                        <a:spcBef>
                          <a:spcPts val="0"/>
                        </a:spcBef>
                        <a:spcAft>
                          <a:spcPts val="0"/>
                        </a:spcAft>
                        <a:buNone/>
                      </a:pPr>
                      <a:r>
                        <a:rPr lang="it" b="1"/>
                        <a:t>Relation</a:t>
                      </a:r>
                      <a:endParaRPr b="1"/>
                    </a:p>
                  </a:txBody>
                  <a:tcPr marL="91425" marR="91425" marT="90000"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F1</a:t>
                      </a:r>
                      <a:endParaRPr b="1"/>
                    </a:p>
                  </a:txBody>
                  <a:tcPr marL="91425" marR="91425" marT="90000"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Precision</a:t>
                      </a:r>
                      <a:endParaRPr b="1"/>
                    </a:p>
                  </a:txBody>
                  <a:tcPr marL="91425" marR="91425" marT="90000"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Recall</a:t>
                      </a:r>
                      <a:endParaRPr b="1"/>
                    </a:p>
                  </a:txBody>
                  <a:tcPr marL="91425" marR="91425" marT="90000"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 Train</a:t>
                      </a:r>
                      <a:endParaRPr b="1"/>
                    </a:p>
                  </a:txBody>
                  <a:tcPr marL="91425" marR="91425" marT="90000"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 Test</a:t>
                      </a:r>
                      <a:endParaRPr b="1"/>
                    </a:p>
                  </a:txBody>
                  <a:tcPr marL="91425" marR="91425" marT="90000" marB="91425">
                    <a:lnB w="9525" cap="flat" cmpd="sng">
                      <a:solidFill>
                        <a:srgbClr val="9E9E9E"/>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22875">
                <a:tc>
                  <a:txBody>
                    <a:bodyPr/>
                    <a:lstStyle/>
                    <a:p>
                      <a:pPr marL="0" marR="0" lvl="0" indent="0" algn="l" rtl="0">
                        <a:lnSpc>
                          <a:spcPct val="100000"/>
                        </a:lnSpc>
                        <a:spcBef>
                          <a:spcPts val="0"/>
                        </a:spcBef>
                        <a:spcAft>
                          <a:spcPts val="0"/>
                        </a:spcAft>
                        <a:buNone/>
                      </a:pPr>
                      <a:r>
                        <a:rPr lang="it" sz="1200" i="1">
                          <a:solidFill>
                            <a:schemeClr val="dk1"/>
                          </a:solidFill>
                        </a:rPr>
                        <a:t>org:alternate:names</a:t>
                      </a: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77%</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73%</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80%</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742</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245</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22875">
                <a:tc>
                  <a:txBody>
                    <a:bodyPr/>
                    <a:lstStyle/>
                    <a:p>
                      <a:pPr marL="0" marR="0" lvl="0" indent="0" algn="l" rtl="0">
                        <a:lnSpc>
                          <a:spcPct val="100000"/>
                        </a:lnSpc>
                        <a:spcBef>
                          <a:spcPts val="0"/>
                        </a:spcBef>
                        <a:spcAft>
                          <a:spcPts val="0"/>
                        </a:spcAft>
                        <a:buNone/>
                      </a:pPr>
                      <a:r>
                        <a:rPr lang="it" sz="1200" i="1">
                          <a:solidFill>
                            <a:schemeClr val="dk1"/>
                          </a:solidFill>
                        </a:rPr>
                        <a:t>org:website</a:t>
                      </a: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72%</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71%</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74%</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104</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27</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22875">
                <a:tc>
                  <a:txBody>
                    <a:bodyPr/>
                    <a:lstStyle/>
                    <a:p>
                      <a:pPr marL="0" marR="0" lvl="0" indent="0" algn="l" rtl="0">
                        <a:lnSpc>
                          <a:spcPct val="100000"/>
                        </a:lnSpc>
                        <a:spcBef>
                          <a:spcPts val="0"/>
                        </a:spcBef>
                        <a:spcAft>
                          <a:spcPts val="0"/>
                        </a:spcAft>
                        <a:buNone/>
                      </a:pPr>
                      <a:r>
                        <a:rPr lang="it" sz="1200" i="1">
                          <a:solidFill>
                            <a:schemeClr val="dk1"/>
                          </a:solidFill>
                        </a:rPr>
                        <a:t>per:stateorprovinces_of_residence</a:t>
                      </a: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70%</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54%</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98%</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311</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it" sz="1200">
                          <a:solidFill>
                            <a:schemeClr val="dk1"/>
                          </a:solidFill>
                        </a:rPr>
                        <a:t>73</a:t>
                      </a:r>
                      <a:endParaRPr sz="1200" b="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57550">
                <a:tc>
                  <a:txBody>
                    <a:bodyPr/>
                    <a:lstStyle/>
                    <a:p>
                      <a:pPr marL="0" marR="0" lvl="0" indent="0" algn="l" rtl="0">
                        <a:lnSpc>
                          <a:spcPct val="100000"/>
                        </a:lnSpc>
                        <a:spcBef>
                          <a:spcPts val="0"/>
                        </a:spcBef>
                        <a:spcAft>
                          <a:spcPts val="0"/>
                        </a:spcAft>
                        <a:buNone/>
                      </a:pPr>
                      <a:r>
                        <a:rPr lang="it" sz="900" i="1">
                          <a:solidFill>
                            <a:schemeClr val="dk1"/>
                          </a:solidFill>
                        </a:rPr>
                        <a:t>…</a:t>
                      </a:r>
                      <a:endParaRPr sz="9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200" b="1" i="1">
                        <a:solidFill>
                          <a:schemeClr val="dk1"/>
                        </a:solidFill>
                      </a:endParaRPr>
                    </a:p>
                  </a:txBody>
                  <a:tcPr marL="91425" marR="91425" marT="90000"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896025">
                <a:tc>
                  <a:txBody>
                    <a:bodyPr/>
                    <a:lstStyle/>
                    <a:p>
                      <a:pPr marL="0" marR="0" lvl="0" indent="0" algn="l" rtl="0">
                        <a:lnSpc>
                          <a:spcPct val="100000"/>
                        </a:lnSpc>
                        <a:spcBef>
                          <a:spcPts val="0"/>
                        </a:spcBef>
                        <a:spcAft>
                          <a:spcPts val="0"/>
                        </a:spcAft>
                        <a:buNone/>
                      </a:pPr>
                      <a:r>
                        <a:rPr lang="it" sz="1200" i="1" dirty="0">
                          <a:solidFill>
                            <a:schemeClr val="dk1"/>
                          </a:solidFill>
                        </a:rPr>
                        <a:t>per:country_of_death</a:t>
                      </a:r>
                      <a:br>
                        <a:rPr lang="it" sz="1200" i="1" dirty="0">
                          <a:solidFill>
                            <a:schemeClr val="dk1"/>
                          </a:solidFill>
                        </a:rPr>
                      </a:br>
                      <a:r>
                        <a:rPr lang="it" sz="1200" i="1" dirty="0">
                          <a:solidFill>
                            <a:schemeClr val="dk1"/>
                          </a:solidFill>
                        </a:rPr>
                        <a:t>org:dissolved</a:t>
                      </a:r>
                      <a:endParaRPr sz="1200" i="1" dirty="0">
                        <a:solidFill>
                          <a:schemeClr val="dk1"/>
                        </a:solidFill>
                      </a:endParaRPr>
                    </a:p>
                    <a:p>
                      <a:pPr marL="0" marR="0" lvl="0" indent="0" algn="l" rtl="0">
                        <a:lnSpc>
                          <a:spcPct val="100000"/>
                        </a:lnSpc>
                        <a:spcBef>
                          <a:spcPts val="0"/>
                        </a:spcBef>
                        <a:spcAft>
                          <a:spcPts val="0"/>
                        </a:spcAft>
                        <a:buNone/>
                      </a:pPr>
                      <a:r>
                        <a:rPr lang="it" sz="1200" i="1" dirty="0">
                          <a:solidFill>
                            <a:schemeClr val="dk1"/>
                          </a:solidFill>
                        </a:rPr>
                        <a:t>org:shareholders</a:t>
                      </a:r>
                      <a:endParaRPr sz="1200" i="1" dirty="0">
                        <a:solidFill>
                          <a:schemeClr val="dk1"/>
                        </a:solidFill>
                      </a:endParaRPr>
                    </a:p>
                    <a:p>
                      <a:pPr marL="0" marR="0" lvl="0" indent="0" algn="l" rtl="0">
                        <a:lnSpc>
                          <a:spcPct val="100000"/>
                        </a:lnSpc>
                        <a:spcBef>
                          <a:spcPts val="0"/>
                        </a:spcBef>
                        <a:spcAft>
                          <a:spcPts val="0"/>
                        </a:spcAft>
                        <a:buNone/>
                      </a:pPr>
                      <a:r>
                        <a:rPr lang="it" sz="1200" i="1" dirty="0">
                          <a:solidFill>
                            <a:schemeClr val="dk1"/>
                          </a:solidFill>
                        </a:rPr>
                        <a:t>per:alternate_names</a:t>
                      </a:r>
                    </a:p>
                    <a:p>
                      <a:pPr marL="0" marR="0" lvl="0" indent="0" algn="l" rtl="0">
                        <a:lnSpc>
                          <a:spcPct val="100000"/>
                        </a:lnSpc>
                        <a:spcBef>
                          <a:spcPts val="0"/>
                        </a:spcBef>
                        <a:spcAft>
                          <a:spcPts val="0"/>
                        </a:spcAft>
                        <a:buNone/>
                      </a:pPr>
                      <a:r>
                        <a:rPr lang="it" sz="1200" i="1" dirty="0">
                          <a:solidFill>
                            <a:schemeClr val="dk1"/>
                          </a:solidFill>
                        </a:rPr>
                        <a:t>…</a:t>
                      </a:r>
                      <a:endParaRPr sz="1200" i="1" dirty="0">
                        <a:solidFill>
                          <a:schemeClr val="dk1"/>
                        </a:solidFill>
                      </a:endParaRPr>
                    </a:p>
                  </a:txBody>
                  <a:tcPr marL="91425" marR="91425" marT="90000" marB="91425">
                    <a:lnT w="9525" cap="flat" cmpd="sng">
                      <a:solidFill>
                        <a:srgbClr val="9E9E9E"/>
                      </a:solidFill>
                      <a:prstDash val="solid"/>
                      <a:round/>
                      <a:headEnd type="none" w="sm" len="sm"/>
                      <a:tailEnd type="none" w="sm" len="sm"/>
                    </a:lnT>
                  </a:tcPr>
                </a:tc>
                <a:tc>
                  <a:txBody>
                    <a:bodyPr/>
                    <a:lstStyle/>
                    <a:p>
                      <a:pPr marL="0" marR="0" lvl="0" indent="0" algn="l" rtl="0">
                        <a:lnSpc>
                          <a:spcPct val="100000"/>
                        </a:lnSpc>
                        <a:spcBef>
                          <a:spcPts val="0"/>
                        </a:spcBef>
                        <a:spcAft>
                          <a:spcPts val="0"/>
                        </a:spcAft>
                        <a:buNone/>
                      </a:pPr>
                      <a:r>
                        <a:rPr lang="it" sz="1200">
                          <a:solidFill>
                            <a:schemeClr val="dk1"/>
                          </a:solidFill>
                        </a:rPr>
                        <a:t>0%</a:t>
                      </a:r>
                      <a:endParaRPr sz="1200">
                        <a:solidFill>
                          <a:schemeClr val="dk1"/>
                        </a:solidFill>
                      </a:endParaRPr>
                    </a:p>
                  </a:txBody>
                  <a:tcPr marL="91425" marR="91425" marT="90000" marB="91425">
                    <a:lnT w="9525" cap="flat" cmpd="sng">
                      <a:solidFill>
                        <a:srgbClr val="9E9E9E"/>
                      </a:solidFill>
                      <a:prstDash val="solid"/>
                      <a:round/>
                      <a:headEnd type="none" w="sm" len="sm"/>
                      <a:tailEnd type="none" w="sm" len="sm"/>
                    </a:lnT>
                  </a:tcPr>
                </a:tc>
                <a:tc>
                  <a:txBody>
                    <a:bodyPr/>
                    <a:lstStyle/>
                    <a:p>
                      <a:pPr marL="0" marR="0" lvl="0" indent="0" algn="l" rtl="0">
                        <a:lnSpc>
                          <a:spcPct val="100000"/>
                        </a:lnSpc>
                        <a:spcBef>
                          <a:spcPts val="0"/>
                        </a:spcBef>
                        <a:spcAft>
                          <a:spcPts val="0"/>
                        </a:spcAft>
                        <a:buNone/>
                      </a:pPr>
                      <a:r>
                        <a:rPr lang="it" sz="1200" dirty="0">
                          <a:solidFill>
                            <a:schemeClr val="dk1"/>
                          </a:solidFill>
                        </a:rPr>
                        <a:t>100% (*)</a:t>
                      </a:r>
                      <a:endParaRPr sz="1200" dirty="0">
                        <a:solidFill>
                          <a:schemeClr val="dk1"/>
                        </a:solidFill>
                      </a:endParaRPr>
                    </a:p>
                  </a:txBody>
                  <a:tcPr marL="91425" marR="91425" marT="90000" marB="91425">
                    <a:lnT w="9525" cap="flat" cmpd="sng">
                      <a:solidFill>
                        <a:srgbClr val="9E9E9E"/>
                      </a:solidFill>
                      <a:prstDash val="solid"/>
                      <a:round/>
                      <a:headEnd type="none" w="sm" len="sm"/>
                      <a:tailEnd type="none" w="sm" len="sm"/>
                    </a:lnT>
                  </a:tcPr>
                </a:tc>
                <a:tc>
                  <a:txBody>
                    <a:bodyPr/>
                    <a:lstStyle/>
                    <a:p>
                      <a:pPr marL="0" marR="0" lvl="0" indent="0" algn="l" rtl="0">
                        <a:lnSpc>
                          <a:spcPct val="100000"/>
                        </a:lnSpc>
                        <a:spcBef>
                          <a:spcPts val="0"/>
                        </a:spcBef>
                        <a:spcAft>
                          <a:spcPts val="0"/>
                        </a:spcAft>
                        <a:buNone/>
                      </a:pPr>
                      <a:r>
                        <a:rPr lang="it" sz="1200">
                          <a:solidFill>
                            <a:schemeClr val="dk1"/>
                          </a:solidFill>
                        </a:rPr>
                        <a:t>0%</a:t>
                      </a:r>
                      <a:endParaRPr sz="1200">
                        <a:solidFill>
                          <a:schemeClr val="dk1"/>
                        </a:solidFill>
                      </a:endParaRPr>
                    </a:p>
                  </a:txBody>
                  <a:tcPr marL="91425" marR="91425" marT="90000" marB="91425">
                    <a:lnT w="9525" cap="flat" cmpd="sng">
                      <a:solidFill>
                        <a:srgbClr val="9E9E9E"/>
                      </a:solidFill>
                      <a:prstDash val="solid"/>
                      <a:round/>
                      <a:headEnd type="none" w="sm" len="sm"/>
                      <a:tailEnd type="none" w="sm" len="sm"/>
                    </a:lnT>
                  </a:tcPr>
                </a:tc>
                <a:tc>
                  <a:txBody>
                    <a:bodyPr/>
                    <a:lstStyle/>
                    <a:p>
                      <a:pPr marL="0" marR="0" lvl="0" indent="0" algn="l" rtl="0">
                        <a:lnSpc>
                          <a:spcPct val="100000"/>
                        </a:lnSpc>
                        <a:spcBef>
                          <a:spcPts val="0"/>
                        </a:spcBef>
                        <a:spcAft>
                          <a:spcPts val="0"/>
                        </a:spcAft>
                        <a:buNone/>
                      </a:pPr>
                      <a:r>
                        <a:rPr lang="it" sz="1200">
                          <a:solidFill>
                            <a:schemeClr val="dk1"/>
                          </a:solidFill>
                        </a:rPr>
                        <a:t>6-101</a:t>
                      </a:r>
                      <a:endParaRPr sz="1200">
                        <a:solidFill>
                          <a:schemeClr val="dk1"/>
                        </a:solidFill>
                      </a:endParaRPr>
                    </a:p>
                  </a:txBody>
                  <a:tcPr marL="91425" marR="91425" marT="90000" marB="91425">
                    <a:lnT w="9525" cap="flat" cmpd="sng">
                      <a:solidFill>
                        <a:srgbClr val="9E9E9E"/>
                      </a:solidFill>
                      <a:prstDash val="solid"/>
                      <a:round/>
                      <a:headEnd type="none" w="sm" len="sm"/>
                      <a:tailEnd type="none" w="sm" len="sm"/>
                    </a:lnT>
                  </a:tcPr>
                </a:tc>
                <a:tc>
                  <a:txBody>
                    <a:bodyPr/>
                    <a:lstStyle/>
                    <a:p>
                      <a:pPr marL="0" marR="0" lvl="0" indent="0" algn="l" rtl="0">
                        <a:lnSpc>
                          <a:spcPct val="100000"/>
                        </a:lnSpc>
                        <a:spcBef>
                          <a:spcPts val="0"/>
                        </a:spcBef>
                        <a:spcAft>
                          <a:spcPts val="0"/>
                        </a:spcAft>
                        <a:buNone/>
                      </a:pPr>
                      <a:r>
                        <a:rPr lang="it" sz="1200">
                          <a:solidFill>
                            <a:schemeClr val="dk1"/>
                          </a:solidFill>
                        </a:rPr>
                        <a:t>1-10</a:t>
                      </a:r>
                      <a:endParaRPr sz="1200">
                        <a:solidFill>
                          <a:schemeClr val="dk1"/>
                        </a:solidFill>
                      </a:endParaRPr>
                    </a:p>
                  </a:txBody>
                  <a:tcPr marL="91425" marR="91425" marT="90000"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5"/>
                  </a:ext>
                </a:extLst>
              </a:tr>
              <a:tr h="1075550">
                <a:tc>
                  <a:txBody>
                    <a:bodyPr/>
                    <a:lstStyle/>
                    <a:p>
                      <a:pPr marL="0" marR="0" lvl="0" indent="0" algn="l" rtl="0">
                        <a:lnSpc>
                          <a:spcPct val="100000"/>
                        </a:lnSpc>
                        <a:spcBef>
                          <a:spcPts val="0"/>
                        </a:spcBef>
                        <a:spcAft>
                          <a:spcPts val="0"/>
                        </a:spcAft>
                        <a:buNone/>
                      </a:pPr>
                      <a:r>
                        <a:rPr lang="it-IT" sz="1200" i="1" dirty="0" err="1">
                          <a:solidFill>
                            <a:schemeClr val="dk1"/>
                          </a:solidFill>
                        </a:rPr>
                        <a:t>per:city_of_birth</a:t>
                      </a:r>
                      <a:endParaRPr lang="it-IT" sz="1200" i="1" dirty="0">
                        <a:solidFill>
                          <a:schemeClr val="dk1"/>
                        </a:solidFill>
                      </a:endParaRPr>
                    </a:p>
                    <a:p>
                      <a:pPr marL="0" marR="0" lvl="0" indent="0" algn="l" rtl="0">
                        <a:lnSpc>
                          <a:spcPct val="100000"/>
                        </a:lnSpc>
                        <a:spcBef>
                          <a:spcPts val="0"/>
                        </a:spcBef>
                        <a:spcAft>
                          <a:spcPts val="0"/>
                        </a:spcAft>
                        <a:buNone/>
                      </a:pPr>
                      <a:r>
                        <a:rPr lang="it-IT" sz="1200" i="1" dirty="0" err="1">
                          <a:solidFill>
                            <a:schemeClr val="dk1"/>
                          </a:solidFill>
                        </a:rPr>
                        <a:t>per:parents</a:t>
                      </a:r>
                      <a:endParaRPr lang="it-IT" sz="1200" i="1" dirty="0">
                        <a:solidFill>
                          <a:schemeClr val="dk1"/>
                        </a:solidFill>
                      </a:endParaRPr>
                    </a:p>
                    <a:p>
                      <a:pPr marL="0" marR="0" lvl="0" indent="0" algn="l" rtl="0">
                        <a:lnSpc>
                          <a:spcPct val="100000"/>
                        </a:lnSpc>
                        <a:spcBef>
                          <a:spcPts val="0"/>
                        </a:spcBef>
                        <a:spcAft>
                          <a:spcPts val="0"/>
                        </a:spcAft>
                        <a:buNone/>
                      </a:pPr>
                      <a:r>
                        <a:rPr lang="it-IT" sz="1200" i="1" dirty="0" err="1">
                          <a:solidFill>
                            <a:schemeClr val="dk1"/>
                          </a:solidFill>
                        </a:rPr>
                        <a:t>org:parents</a:t>
                      </a:r>
                      <a:endParaRPr lang="it-IT" sz="1200" i="1" dirty="0">
                        <a:solidFill>
                          <a:schemeClr val="dk1"/>
                        </a:solidFill>
                      </a:endParaRPr>
                    </a:p>
                    <a:p>
                      <a:pPr marL="0" marR="0" lvl="0" indent="0" algn="l" rtl="0">
                        <a:lnSpc>
                          <a:spcPct val="100000"/>
                        </a:lnSpc>
                        <a:spcBef>
                          <a:spcPts val="0"/>
                        </a:spcBef>
                        <a:spcAft>
                          <a:spcPts val="0"/>
                        </a:spcAft>
                        <a:buNone/>
                      </a:pPr>
                      <a:r>
                        <a:rPr lang="it-IT" sz="1200" i="1" dirty="0" err="1">
                          <a:solidFill>
                            <a:schemeClr val="dk1"/>
                          </a:solidFill>
                        </a:rPr>
                        <a:t>Org:subsidiaries</a:t>
                      </a:r>
                      <a:endParaRPr sz="1200" i="1" dirty="0">
                        <a:solidFill>
                          <a:schemeClr val="dk1"/>
                        </a:solidFill>
                      </a:endParaRPr>
                    </a:p>
                  </a:txBody>
                  <a:tcPr marL="91425" marR="91425" marT="90000" marB="91425"/>
                </a:tc>
                <a:tc>
                  <a:txBody>
                    <a:bodyPr/>
                    <a:lstStyle/>
                    <a:p>
                      <a:pPr marL="0" marR="0" lvl="0" indent="0" algn="l" rtl="0">
                        <a:lnSpc>
                          <a:spcPct val="100000"/>
                        </a:lnSpc>
                        <a:spcBef>
                          <a:spcPts val="0"/>
                        </a:spcBef>
                        <a:spcAft>
                          <a:spcPts val="0"/>
                        </a:spcAft>
                        <a:buNone/>
                      </a:pPr>
                      <a:r>
                        <a:rPr lang="it" sz="1200">
                          <a:solidFill>
                            <a:schemeClr val="dk1"/>
                          </a:solidFill>
                        </a:rPr>
                        <a:t>0%</a:t>
                      </a:r>
                      <a:endParaRPr sz="1200">
                        <a:solidFill>
                          <a:schemeClr val="dk1"/>
                        </a:solidFill>
                      </a:endParaRPr>
                    </a:p>
                  </a:txBody>
                  <a:tcPr marL="91425" marR="91425" marT="90000" marB="91425"/>
                </a:tc>
                <a:tc>
                  <a:txBody>
                    <a:bodyPr/>
                    <a:lstStyle/>
                    <a:p>
                      <a:pPr marL="0" marR="0" lvl="0" indent="0" algn="l" rtl="0">
                        <a:lnSpc>
                          <a:spcPct val="100000"/>
                        </a:lnSpc>
                        <a:spcBef>
                          <a:spcPts val="0"/>
                        </a:spcBef>
                        <a:spcAft>
                          <a:spcPts val="0"/>
                        </a:spcAft>
                        <a:buNone/>
                      </a:pPr>
                      <a:r>
                        <a:rPr lang="it" sz="1200">
                          <a:solidFill>
                            <a:schemeClr val="dk1"/>
                          </a:solidFill>
                        </a:rPr>
                        <a:t>0%</a:t>
                      </a:r>
                      <a:endParaRPr sz="1200">
                        <a:solidFill>
                          <a:schemeClr val="dk1"/>
                        </a:solidFill>
                      </a:endParaRPr>
                    </a:p>
                  </a:txBody>
                  <a:tcPr marL="91425" marR="91425" marT="90000" marB="91425"/>
                </a:tc>
                <a:tc>
                  <a:txBody>
                    <a:bodyPr/>
                    <a:lstStyle/>
                    <a:p>
                      <a:pPr marL="0" marR="0" lvl="0" indent="0" algn="l" rtl="0">
                        <a:lnSpc>
                          <a:spcPct val="100000"/>
                        </a:lnSpc>
                        <a:spcBef>
                          <a:spcPts val="0"/>
                        </a:spcBef>
                        <a:spcAft>
                          <a:spcPts val="0"/>
                        </a:spcAft>
                        <a:buNone/>
                      </a:pPr>
                      <a:r>
                        <a:rPr lang="it" sz="1200">
                          <a:solidFill>
                            <a:schemeClr val="dk1"/>
                          </a:solidFill>
                        </a:rPr>
                        <a:t>0%</a:t>
                      </a:r>
                      <a:endParaRPr sz="1200">
                        <a:solidFill>
                          <a:schemeClr val="dk1"/>
                        </a:solidFill>
                      </a:endParaRPr>
                    </a:p>
                  </a:txBody>
                  <a:tcPr marL="91425" marR="91425" marT="90000" marB="91425"/>
                </a:tc>
                <a:tc>
                  <a:txBody>
                    <a:bodyPr/>
                    <a:lstStyle/>
                    <a:p>
                      <a:pPr marL="0" marR="0" lvl="0" indent="0" algn="l" rtl="0">
                        <a:lnSpc>
                          <a:spcPct val="100000"/>
                        </a:lnSpc>
                        <a:spcBef>
                          <a:spcPts val="0"/>
                        </a:spcBef>
                        <a:spcAft>
                          <a:spcPts val="0"/>
                        </a:spcAft>
                        <a:buNone/>
                      </a:pPr>
                      <a:r>
                        <a:rPr lang="it" sz="1200">
                          <a:solidFill>
                            <a:schemeClr val="dk1"/>
                          </a:solidFill>
                        </a:rPr>
                        <a:t>113-196</a:t>
                      </a:r>
                      <a:endParaRPr sz="1200">
                        <a:solidFill>
                          <a:schemeClr val="dk1"/>
                        </a:solidFill>
                      </a:endParaRPr>
                    </a:p>
                  </a:txBody>
                  <a:tcPr marL="91425" marR="91425" marT="90000" marB="91425"/>
                </a:tc>
                <a:tc>
                  <a:txBody>
                    <a:bodyPr/>
                    <a:lstStyle/>
                    <a:p>
                      <a:pPr marL="0" marR="0" lvl="0" indent="0" algn="l" rtl="0">
                        <a:lnSpc>
                          <a:spcPct val="100000"/>
                        </a:lnSpc>
                        <a:spcBef>
                          <a:spcPts val="0"/>
                        </a:spcBef>
                        <a:spcAft>
                          <a:spcPts val="0"/>
                        </a:spcAft>
                        <a:buNone/>
                      </a:pPr>
                      <a:r>
                        <a:rPr lang="it" sz="1200">
                          <a:solidFill>
                            <a:schemeClr val="dk1"/>
                          </a:solidFill>
                        </a:rPr>
                        <a:t>4-76</a:t>
                      </a:r>
                      <a:endParaRPr sz="1200">
                        <a:solidFill>
                          <a:schemeClr val="dk1"/>
                        </a:solidFill>
                      </a:endParaRPr>
                    </a:p>
                  </a:txBody>
                  <a:tcPr marL="91425" marR="91425" marT="90000" marB="91425"/>
                </a:tc>
                <a:extLst>
                  <a:ext uri="{0D108BD9-81ED-4DB2-BD59-A6C34878D82A}">
                    <a16:rowId xmlns:a16="http://schemas.microsoft.com/office/drawing/2014/main" val="10006"/>
                  </a:ext>
                </a:extLst>
              </a:tr>
              <a:tr h="357550">
                <a:tc>
                  <a:txBody>
                    <a:bodyPr/>
                    <a:lstStyle/>
                    <a:p>
                      <a:pPr marL="0" marR="0" lvl="0" indent="0" algn="l" rtl="0">
                        <a:lnSpc>
                          <a:spcPct val="100000"/>
                        </a:lnSpc>
                        <a:spcBef>
                          <a:spcPts val="0"/>
                        </a:spcBef>
                        <a:spcAft>
                          <a:spcPts val="0"/>
                        </a:spcAft>
                        <a:buNone/>
                      </a:pPr>
                      <a:r>
                        <a:rPr lang="it" sz="1200" b="1" i="1">
                          <a:solidFill>
                            <a:schemeClr val="dk1"/>
                          </a:solidFill>
                        </a:rPr>
                        <a:t>Overall</a:t>
                      </a:r>
                      <a:endParaRPr sz="1200" b="1" i="1">
                        <a:solidFill>
                          <a:schemeClr val="dk1"/>
                        </a:solidFill>
                      </a:endParaRPr>
                    </a:p>
                  </a:txBody>
                  <a:tcPr marL="91425" marR="91425" marT="90000" marB="91425">
                    <a:solidFill>
                      <a:srgbClr val="CCCCCC"/>
                    </a:solidFill>
                  </a:tcPr>
                </a:tc>
                <a:tc>
                  <a:txBody>
                    <a:bodyPr/>
                    <a:lstStyle/>
                    <a:p>
                      <a:pPr marL="0" marR="0" lvl="0" indent="0" algn="l" rtl="0">
                        <a:lnSpc>
                          <a:spcPct val="100000"/>
                        </a:lnSpc>
                        <a:spcBef>
                          <a:spcPts val="0"/>
                        </a:spcBef>
                        <a:spcAft>
                          <a:spcPts val="0"/>
                        </a:spcAft>
                        <a:buNone/>
                      </a:pPr>
                      <a:r>
                        <a:rPr lang="it" sz="1200" dirty="0">
                          <a:solidFill>
                            <a:schemeClr val="dk1"/>
                          </a:solidFill>
                        </a:rPr>
                        <a:t>48%</a:t>
                      </a:r>
                      <a:endParaRPr sz="1200" dirty="0">
                        <a:solidFill>
                          <a:schemeClr val="dk1"/>
                        </a:solidFill>
                      </a:endParaRPr>
                    </a:p>
                  </a:txBody>
                  <a:tcPr marL="91425" marR="91425" marT="90000" marB="91425">
                    <a:solidFill>
                      <a:srgbClr val="CCCCCC"/>
                    </a:solidFill>
                  </a:tcPr>
                </a:tc>
                <a:tc>
                  <a:txBody>
                    <a:bodyPr/>
                    <a:lstStyle/>
                    <a:p>
                      <a:pPr marL="0" marR="0" lvl="0" indent="0" algn="l" rtl="0">
                        <a:lnSpc>
                          <a:spcPct val="100000"/>
                        </a:lnSpc>
                        <a:spcBef>
                          <a:spcPts val="0"/>
                        </a:spcBef>
                        <a:spcAft>
                          <a:spcPts val="0"/>
                        </a:spcAft>
                        <a:buNone/>
                      </a:pPr>
                      <a:r>
                        <a:rPr lang="it" sz="1200" dirty="0">
                          <a:solidFill>
                            <a:schemeClr val="dk1"/>
                          </a:solidFill>
                        </a:rPr>
                        <a:t>46%</a:t>
                      </a:r>
                      <a:endParaRPr sz="1200" dirty="0">
                        <a:solidFill>
                          <a:schemeClr val="dk1"/>
                        </a:solidFill>
                      </a:endParaRPr>
                    </a:p>
                  </a:txBody>
                  <a:tcPr marL="91425" marR="91425" marT="90000" marB="91425">
                    <a:solidFill>
                      <a:srgbClr val="CCCCCC"/>
                    </a:solidFill>
                  </a:tcPr>
                </a:tc>
                <a:tc>
                  <a:txBody>
                    <a:bodyPr/>
                    <a:lstStyle/>
                    <a:p>
                      <a:pPr marL="0" marR="0" lvl="0" indent="0" algn="l" rtl="0">
                        <a:lnSpc>
                          <a:spcPct val="100000"/>
                        </a:lnSpc>
                        <a:spcBef>
                          <a:spcPts val="0"/>
                        </a:spcBef>
                        <a:spcAft>
                          <a:spcPts val="0"/>
                        </a:spcAft>
                        <a:buNone/>
                      </a:pPr>
                      <a:r>
                        <a:rPr lang="it" sz="1200" dirty="0">
                          <a:solidFill>
                            <a:schemeClr val="dk1"/>
                          </a:solidFill>
                        </a:rPr>
                        <a:t>49%</a:t>
                      </a:r>
                      <a:endParaRPr sz="1200" dirty="0">
                        <a:solidFill>
                          <a:schemeClr val="dk1"/>
                        </a:solidFill>
                      </a:endParaRPr>
                    </a:p>
                  </a:txBody>
                  <a:tcPr marL="91425" marR="91425" marT="90000" marB="91425">
                    <a:solidFill>
                      <a:srgbClr val="CCCCCC"/>
                    </a:solidFill>
                  </a:tcPr>
                </a:tc>
                <a:tc>
                  <a:txBody>
                    <a:bodyPr/>
                    <a:lstStyle/>
                    <a:p>
                      <a:pPr marL="0" marR="0" lvl="0" indent="0" algn="l" rtl="0">
                        <a:lnSpc>
                          <a:spcPct val="100000"/>
                        </a:lnSpc>
                        <a:spcBef>
                          <a:spcPts val="0"/>
                        </a:spcBef>
                        <a:spcAft>
                          <a:spcPts val="0"/>
                        </a:spcAft>
                        <a:buNone/>
                      </a:pPr>
                      <a:r>
                        <a:rPr lang="it" sz="1200">
                          <a:solidFill>
                            <a:schemeClr val="dk1"/>
                          </a:solidFill>
                        </a:rPr>
                        <a:t>63528</a:t>
                      </a:r>
                      <a:endParaRPr sz="1200">
                        <a:solidFill>
                          <a:schemeClr val="dk1"/>
                        </a:solidFill>
                      </a:endParaRPr>
                    </a:p>
                  </a:txBody>
                  <a:tcPr marL="91425" marR="91425" marT="90000" marB="91425">
                    <a:solidFill>
                      <a:srgbClr val="CCCCCC"/>
                    </a:solidFill>
                  </a:tcPr>
                </a:tc>
                <a:tc>
                  <a:txBody>
                    <a:bodyPr/>
                    <a:lstStyle/>
                    <a:p>
                      <a:pPr marL="0" marR="0" lvl="0" indent="0" algn="l" rtl="0">
                        <a:lnSpc>
                          <a:spcPct val="100000"/>
                        </a:lnSpc>
                        <a:spcBef>
                          <a:spcPts val="0"/>
                        </a:spcBef>
                        <a:spcAft>
                          <a:spcPts val="0"/>
                        </a:spcAft>
                        <a:buNone/>
                      </a:pPr>
                      <a:r>
                        <a:rPr lang="it" sz="1200" dirty="0">
                          <a:solidFill>
                            <a:schemeClr val="dk1"/>
                          </a:solidFill>
                        </a:rPr>
                        <a:t>15509</a:t>
                      </a:r>
                      <a:endParaRPr sz="1200" dirty="0">
                        <a:solidFill>
                          <a:schemeClr val="dk1"/>
                        </a:solidFill>
                      </a:endParaRPr>
                    </a:p>
                  </a:txBody>
                  <a:tcPr marL="91425" marR="91425" marT="90000" marB="91425">
                    <a:solidFill>
                      <a:srgbClr val="CCCCCC"/>
                    </a:solidFill>
                  </a:tcPr>
                </a:tc>
                <a:extLst>
                  <a:ext uri="{0D108BD9-81ED-4DB2-BD59-A6C34878D82A}">
                    <a16:rowId xmlns:a16="http://schemas.microsoft.com/office/drawing/2014/main" val="10007"/>
                  </a:ext>
                </a:extLst>
              </a:tr>
            </a:tbl>
          </a:graphicData>
        </a:graphic>
      </p:graphicFrame>
      <p:sp>
        <p:nvSpPr>
          <p:cNvPr id="114" name="Google Shape;114;p19"/>
          <p:cNvSpPr txBox="1"/>
          <p:nvPr/>
        </p:nvSpPr>
        <p:spPr>
          <a:xfrm>
            <a:off x="4627775" y="260100"/>
            <a:ext cx="40005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100">
                <a:solidFill>
                  <a:schemeClr val="dk1"/>
                </a:solidFill>
              </a:rPr>
              <a:t>(*) Means the relation was never predicted on the test set</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a:spLocks noGrp="1"/>
          </p:cNvSpPr>
          <p:nvPr>
            <p:ph type="title" idx="4294967295"/>
          </p:nvPr>
        </p:nvSpPr>
        <p:spPr>
          <a:xfrm>
            <a:off x="311700" y="1619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DL Models</a:t>
            </a:r>
            <a:endParaRPr sz="3020" b="1"/>
          </a:p>
        </p:txBody>
      </p:sp>
      <p:sp>
        <p:nvSpPr>
          <p:cNvPr id="120" name="Google Shape;120;p20"/>
          <p:cNvSpPr txBox="1">
            <a:spLocks noGrp="1"/>
          </p:cNvSpPr>
          <p:nvPr>
            <p:ph type="body" idx="4294967295"/>
          </p:nvPr>
        </p:nvSpPr>
        <p:spPr>
          <a:xfrm>
            <a:off x="311700" y="874950"/>
            <a:ext cx="8410200" cy="3976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it" sz="2200" b="1"/>
              <a:t>Positional-aware LSTM</a:t>
            </a:r>
            <a:r>
              <a:rPr lang="it" sz="2200"/>
              <a:t>, as proposed by Zhang et al. </a:t>
            </a:r>
            <a:r>
              <a:rPr lang="it" sz="1100"/>
              <a:t>[1]</a:t>
            </a:r>
            <a:br>
              <a:rPr lang="it" sz="2200"/>
            </a:br>
            <a:endParaRPr sz="2200"/>
          </a:p>
        </p:txBody>
      </p:sp>
      <p:pic>
        <p:nvPicPr>
          <p:cNvPr id="121" name="Google Shape;121;p20"/>
          <p:cNvPicPr preferRelativeResize="0"/>
          <p:nvPr/>
        </p:nvPicPr>
        <p:blipFill>
          <a:blip r:embed="rId3">
            <a:alphaModFix/>
          </a:blip>
          <a:stretch>
            <a:fillRect/>
          </a:stretch>
        </p:blipFill>
        <p:spPr>
          <a:xfrm>
            <a:off x="311700" y="1405350"/>
            <a:ext cx="3431575" cy="3525049"/>
          </a:xfrm>
          <a:prstGeom prst="rect">
            <a:avLst/>
          </a:prstGeom>
          <a:noFill/>
          <a:ln>
            <a:noFill/>
          </a:ln>
        </p:spPr>
      </p:pic>
      <p:sp>
        <p:nvSpPr>
          <p:cNvPr id="122" name="Google Shape;122;p20"/>
          <p:cNvSpPr txBox="1"/>
          <p:nvPr/>
        </p:nvSpPr>
        <p:spPr>
          <a:xfrm>
            <a:off x="3979525" y="1951975"/>
            <a:ext cx="4983600" cy="2431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it" sz="1800">
                <a:solidFill>
                  <a:schemeClr val="dk2"/>
                </a:solidFill>
              </a:rPr>
              <a:t>2-layer stacked unidirectional LSTM with dropout and an attention layer</a:t>
            </a:r>
            <a:br>
              <a:rPr lang="it" sz="1800">
                <a:solidFill>
                  <a:schemeClr val="dk2"/>
                </a:solidFill>
              </a:rPr>
            </a:br>
            <a:endParaRPr sz="1800">
              <a:solidFill>
                <a:schemeClr val="dk2"/>
              </a:solidFill>
            </a:endParaRPr>
          </a:p>
          <a:p>
            <a:pPr marL="457200" lvl="0" indent="-342900" algn="l" rtl="0">
              <a:spcBef>
                <a:spcPts val="0"/>
              </a:spcBef>
              <a:spcAft>
                <a:spcPts val="0"/>
              </a:spcAft>
              <a:buClr>
                <a:schemeClr val="dk2"/>
              </a:buClr>
              <a:buSzPts val="1800"/>
              <a:buChar char="●"/>
            </a:pPr>
            <a:r>
              <a:rPr lang="it" sz="1800">
                <a:solidFill>
                  <a:schemeClr val="dk2"/>
                </a:solidFill>
              </a:rPr>
              <a:t>Entity masking is performed</a:t>
            </a:r>
            <a:br>
              <a:rPr lang="it" sz="1800">
                <a:solidFill>
                  <a:schemeClr val="dk2"/>
                </a:solidFill>
              </a:rPr>
            </a:br>
            <a:r>
              <a:rPr lang="it" sz="1800" i="1">
                <a:solidFill>
                  <a:schemeClr val="dk2"/>
                </a:solidFill>
              </a:rPr>
              <a:t>SUBJ-sub_type</a:t>
            </a:r>
            <a:r>
              <a:rPr lang="it" sz="1800">
                <a:solidFill>
                  <a:schemeClr val="dk2"/>
                </a:solidFill>
              </a:rPr>
              <a:t> and </a:t>
            </a:r>
            <a:r>
              <a:rPr lang="it" sz="1800" i="1">
                <a:solidFill>
                  <a:schemeClr val="dk2"/>
                </a:solidFill>
              </a:rPr>
              <a:t>OBJ-obj_type</a:t>
            </a:r>
            <a:r>
              <a:rPr lang="it" sz="1800">
                <a:solidFill>
                  <a:schemeClr val="dk2"/>
                </a:solidFill>
              </a:rPr>
              <a:t> </a:t>
            </a:r>
            <a:br>
              <a:rPr lang="it" sz="1800">
                <a:solidFill>
                  <a:schemeClr val="dk2"/>
                </a:solidFill>
              </a:rPr>
            </a:br>
            <a:endParaRPr sz="1800">
              <a:solidFill>
                <a:schemeClr val="dk2"/>
              </a:solidFill>
            </a:endParaRPr>
          </a:p>
          <a:p>
            <a:pPr marL="457200" lvl="0" indent="-342900" algn="l" rtl="0">
              <a:spcBef>
                <a:spcPts val="0"/>
              </a:spcBef>
              <a:spcAft>
                <a:spcPts val="0"/>
              </a:spcAft>
              <a:buClr>
                <a:schemeClr val="dk2"/>
              </a:buClr>
              <a:buSzPts val="1800"/>
              <a:buChar char="●"/>
            </a:pPr>
            <a:r>
              <a:rPr lang="it" sz="1800">
                <a:solidFill>
                  <a:schemeClr val="dk2"/>
                </a:solidFill>
              </a:rPr>
              <a:t>Input: concatenation of word embeddings, POS and NER embeddings</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graphicFrame>
        <p:nvGraphicFramePr>
          <p:cNvPr id="127" name="Google Shape;127;p21"/>
          <p:cNvGraphicFramePr/>
          <p:nvPr/>
        </p:nvGraphicFramePr>
        <p:xfrm>
          <a:off x="808275" y="635900"/>
          <a:ext cx="3000000" cy="3000000"/>
        </p:xfrm>
        <a:graphic>
          <a:graphicData uri="http://schemas.openxmlformats.org/drawingml/2006/table">
            <a:tbl>
              <a:tblPr>
                <a:noFill/>
                <a:tableStyleId>{4D1C2B5F-1C65-4827-960B-BEEF89DE0A51}</a:tableStyleId>
              </a:tblPr>
              <a:tblGrid>
                <a:gridCol w="2266275">
                  <a:extLst>
                    <a:ext uri="{9D8B030D-6E8A-4147-A177-3AD203B41FA5}">
                      <a16:colId xmlns:a16="http://schemas.microsoft.com/office/drawing/2014/main" val="20000"/>
                    </a:ext>
                  </a:extLst>
                </a:gridCol>
                <a:gridCol w="1060400">
                  <a:extLst>
                    <a:ext uri="{9D8B030D-6E8A-4147-A177-3AD203B41FA5}">
                      <a16:colId xmlns:a16="http://schemas.microsoft.com/office/drawing/2014/main" val="20001"/>
                    </a:ext>
                  </a:extLst>
                </a:gridCol>
                <a:gridCol w="1060400">
                  <a:extLst>
                    <a:ext uri="{9D8B030D-6E8A-4147-A177-3AD203B41FA5}">
                      <a16:colId xmlns:a16="http://schemas.microsoft.com/office/drawing/2014/main" val="20002"/>
                    </a:ext>
                  </a:extLst>
                </a:gridCol>
                <a:gridCol w="1060400">
                  <a:extLst>
                    <a:ext uri="{9D8B030D-6E8A-4147-A177-3AD203B41FA5}">
                      <a16:colId xmlns:a16="http://schemas.microsoft.com/office/drawing/2014/main" val="20003"/>
                    </a:ext>
                  </a:extLst>
                </a:gridCol>
                <a:gridCol w="1046275">
                  <a:extLst>
                    <a:ext uri="{9D8B030D-6E8A-4147-A177-3AD203B41FA5}">
                      <a16:colId xmlns:a16="http://schemas.microsoft.com/office/drawing/2014/main" val="20004"/>
                    </a:ext>
                  </a:extLst>
                </a:gridCol>
                <a:gridCol w="996100">
                  <a:extLst>
                    <a:ext uri="{9D8B030D-6E8A-4147-A177-3AD203B41FA5}">
                      <a16:colId xmlns:a16="http://schemas.microsoft.com/office/drawing/2014/main" val="20005"/>
                    </a:ext>
                  </a:extLst>
                </a:gridCol>
              </a:tblGrid>
              <a:tr h="393200">
                <a:tc>
                  <a:txBody>
                    <a:bodyPr/>
                    <a:lstStyle/>
                    <a:p>
                      <a:pPr marL="0" lvl="0" indent="0" algn="l" rtl="0">
                        <a:spcBef>
                          <a:spcPts val="0"/>
                        </a:spcBef>
                        <a:spcAft>
                          <a:spcPts val="0"/>
                        </a:spcAft>
                        <a:buNone/>
                      </a:pPr>
                      <a:r>
                        <a:rPr lang="it" b="1"/>
                        <a:t>Relation</a:t>
                      </a:r>
                      <a:endParaRPr b="1"/>
                    </a:p>
                  </a:txBody>
                  <a:tcPr marL="91425" marR="91425" marT="91425"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F1</a:t>
                      </a:r>
                      <a:endParaRPr b="1"/>
                    </a:p>
                  </a:txBody>
                  <a:tcPr marL="91425" marR="91425" marT="91425"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Precision</a:t>
                      </a:r>
                      <a:endParaRPr b="1"/>
                    </a:p>
                  </a:txBody>
                  <a:tcPr marL="91425" marR="91425" marT="91425"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Recall</a:t>
                      </a:r>
                      <a:endParaRPr b="1"/>
                    </a:p>
                  </a:txBody>
                  <a:tcPr marL="91425" marR="91425" marT="91425"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 Train</a:t>
                      </a:r>
                      <a:endParaRPr b="1"/>
                    </a:p>
                  </a:txBody>
                  <a:tcPr marL="91425" marR="91425" marT="91425" marB="91425">
                    <a:lnB w="9525" cap="flat" cmpd="sng">
                      <a:solidFill>
                        <a:srgbClr val="9E9E9E"/>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it" b="1"/>
                        <a:t># Test</a:t>
                      </a:r>
                      <a:endParaRPr b="1"/>
                    </a:p>
                  </a:txBody>
                  <a:tcPr marL="91425" marR="91425" marT="91425" marB="91425">
                    <a:lnB w="9525" cap="flat" cmpd="sng">
                      <a:solidFill>
                        <a:srgbClr val="9E9E9E"/>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08350">
                <a:tc>
                  <a:txBody>
                    <a:bodyPr/>
                    <a:lstStyle/>
                    <a:p>
                      <a:pPr marL="0" lvl="0" indent="0" algn="l" rtl="0">
                        <a:spcBef>
                          <a:spcPts val="0"/>
                        </a:spcBef>
                        <a:spcAft>
                          <a:spcPts val="0"/>
                        </a:spcAft>
                        <a:buNone/>
                      </a:pPr>
                      <a:r>
                        <a:rPr lang="it" sz="1500" i="1"/>
                        <a:t>org:alternate_names</a:t>
                      </a:r>
                      <a:endParaRPr sz="1500" i="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t>92%</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t>96%</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t>88%</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742</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245</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8350">
                <a:tc>
                  <a:txBody>
                    <a:bodyPr/>
                    <a:lstStyle/>
                    <a:p>
                      <a:pPr marL="0" lvl="0" indent="0" algn="l" rtl="0">
                        <a:spcBef>
                          <a:spcPts val="0"/>
                        </a:spcBef>
                        <a:spcAft>
                          <a:spcPts val="0"/>
                        </a:spcAft>
                        <a:buNone/>
                      </a:pPr>
                      <a:r>
                        <a:rPr lang="it" sz="1500" i="1"/>
                        <a:t>org:founded</a:t>
                      </a:r>
                      <a:endParaRPr sz="1500" i="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88%</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87%</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89%</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84</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37</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8350">
                <a:tc>
                  <a:txBody>
                    <a:bodyPr/>
                    <a:lstStyle/>
                    <a:p>
                      <a:pPr marL="0" lvl="0" indent="0" algn="l" rtl="0">
                        <a:spcBef>
                          <a:spcPts val="0"/>
                        </a:spcBef>
                        <a:spcAft>
                          <a:spcPts val="0"/>
                        </a:spcAft>
                        <a:buNone/>
                      </a:pPr>
                      <a:r>
                        <a:rPr lang="it" sz="1500" i="1"/>
                        <a:t>per:age</a:t>
                      </a:r>
                      <a:endParaRPr sz="1500" i="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87%</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79%</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96%</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364</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201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8350">
                <a:tc>
                  <a:txBody>
                    <a:bodyPr/>
                    <a:lstStyle/>
                    <a:p>
                      <a:pPr marL="0" lvl="0" indent="0" algn="l" rtl="0">
                        <a:spcBef>
                          <a:spcPts val="0"/>
                        </a:spcBef>
                        <a:spcAft>
                          <a:spcPts val="0"/>
                        </a:spcAft>
                        <a:buNone/>
                      </a:pPr>
                      <a:r>
                        <a:rPr lang="it" sz="1500" i="1"/>
                        <a:t>…</a:t>
                      </a:r>
                      <a:endParaRPr sz="1500" i="1"/>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endParaRPr>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endParaRPr>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8350">
                <a:tc>
                  <a:txBody>
                    <a:bodyPr/>
                    <a:lstStyle/>
                    <a:p>
                      <a:pPr marL="0" lvl="0" indent="0" algn="l" rtl="0">
                        <a:spcBef>
                          <a:spcPts val="0"/>
                        </a:spcBef>
                        <a:spcAft>
                          <a:spcPts val="0"/>
                        </a:spcAft>
                        <a:buNone/>
                      </a:pPr>
                      <a:r>
                        <a:rPr lang="it" sz="1500" i="1"/>
                        <a:t>org:members</a:t>
                      </a:r>
                      <a:endParaRPr sz="1500" i="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solidFill>
                          <a:schemeClr val="dk1"/>
                        </a:solidFill>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solidFill>
                          <a:schemeClr val="dk1"/>
                        </a:solidFill>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155</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16</a:t>
                      </a:r>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08350">
                <a:tc>
                  <a:txBody>
                    <a:bodyPr/>
                    <a:lstStyle/>
                    <a:p>
                      <a:pPr marL="0" lvl="0" indent="0" algn="l" rtl="0">
                        <a:spcBef>
                          <a:spcPts val="0"/>
                        </a:spcBef>
                        <a:spcAft>
                          <a:spcPts val="0"/>
                        </a:spcAft>
                        <a:buNone/>
                      </a:pPr>
                      <a:r>
                        <a:rPr lang="it" sz="1500" i="1"/>
                        <a:t>org:shareholders</a:t>
                      </a:r>
                      <a:endParaRPr sz="1500" i="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113</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4</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408350">
                <a:tc>
                  <a:txBody>
                    <a:bodyPr/>
                    <a:lstStyle/>
                    <a:p>
                      <a:pPr marL="0" lvl="0" indent="0" algn="l" rtl="0">
                        <a:spcBef>
                          <a:spcPts val="0"/>
                        </a:spcBef>
                        <a:spcAft>
                          <a:spcPts val="0"/>
                        </a:spcAft>
                        <a:buNone/>
                      </a:pPr>
                      <a:r>
                        <a:rPr lang="it" sz="1500" i="1"/>
                        <a:t>org:member_of</a:t>
                      </a:r>
                      <a:endParaRPr sz="1500" i="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100% (*)</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70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3</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08350">
                <a:tc>
                  <a:txBody>
                    <a:bodyPr/>
                    <a:lstStyle/>
                    <a:p>
                      <a:pPr marL="0" lvl="0" indent="0" algn="l" rtl="0">
                        <a:spcBef>
                          <a:spcPts val="0"/>
                        </a:spcBef>
                        <a:spcAft>
                          <a:spcPts val="0"/>
                        </a:spcAft>
                        <a:buNone/>
                      </a:pPr>
                      <a:r>
                        <a:rPr lang="it" sz="1500" i="1"/>
                        <a:t>org:dissolved</a:t>
                      </a:r>
                      <a:endParaRPr sz="1500" i="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100% (*)</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0%</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22</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0">
                <a:tc>
                  <a:txBody>
                    <a:bodyPr/>
                    <a:lstStyle/>
                    <a:p>
                      <a:pPr marL="0" lvl="0" indent="0" algn="l" rtl="0">
                        <a:spcBef>
                          <a:spcPts val="0"/>
                        </a:spcBef>
                        <a:spcAft>
                          <a:spcPts val="0"/>
                        </a:spcAft>
                        <a:buNone/>
                      </a:pPr>
                      <a:r>
                        <a:rPr lang="it" sz="1500" i="1">
                          <a:solidFill>
                            <a:schemeClr val="dk1"/>
                          </a:solidFill>
                        </a:rPr>
                        <a:t>per:country_of_death</a:t>
                      </a:r>
                      <a:endParaRPr sz="1500" i="1">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t>100% (*)</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6</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it">
                          <a:solidFill>
                            <a:schemeClr val="dk1"/>
                          </a:solidFill>
                        </a:rPr>
                        <a:t>10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r h="408350">
                <a:tc>
                  <a:txBody>
                    <a:bodyPr/>
                    <a:lstStyle/>
                    <a:p>
                      <a:pPr marL="0" lvl="0" indent="0" algn="l" rtl="0">
                        <a:spcBef>
                          <a:spcPts val="0"/>
                        </a:spcBef>
                        <a:spcAft>
                          <a:spcPts val="0"/>
                        </a:spcAft>
                        <a:buNone/>
                      </a:pPr>
                      <a:r>
                        <a:rPr lang="it" sz="1500" b="1" i="1"/>
                        <a:t>Overall</a:t>
                      </a:r>
                      <a:endParaRPr sz="1500" b="1" i="1"/>
                    </a:p>
                  </a:txBody>
                  <a:tcPr marL="91425" marR="91425" marT="91425" marB="91425">
                    <a:lnT w="952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it"/>
                        <a:t>69.2%</a:t>
                      </a:r>
                      <a:endParaRPr/>
                    </a:p>
                  </a:txBody>
                  <a:tcPr marL="91425" marR="91425" marT="91425" marB="91425">
                    <a:lnT w="952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Clr>
                          <a:schemeClr val="dk1"/>
                        </a:buClr>
                        <a:buSzPts val="1100"/>
                        <a:buFont typeface="Arial"/>
                        <a:buNone/>
                      </a:pPr>
                      <a:r>
                        <a:rPr lang="it">
                          <a:solidFill>
                            <a:schemeClr val="dk1"/>
                          </a:solidFill>
                        </a:rPr>
                        <a:t>69.2%</a:t>
                      </a:r>
                      <a:endParaRPr/>
                    </a:p>
                  </a:txBody>
                  <a:tcPr marL="91425" marR="91425" marT="91425" marB="91425">
                    <a:lnT w="952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it"/>
                        <a:t>69.5%</a:t>
                      </a:r>
                      <a:endParaRPr/>
                    </a:p>
                  </a:txBody>
                  <a:tcPr marL="91425" marR="91425" marT="91425" marB="91425">
                    <a:lnT w="952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it">
                          <a:solidFill>
                            <a:schemeClr val="dk1"/>
                          </a:solidFill>
                        </a:rPr>
                        <a:t>63528</a:t>
                      </a:r>
                      <a:endParaRPr>
                        <a:solidFill>
                          <a:schemeClr val="dk1"/>
                        </a:solidFill>
                      </a:endParaRPr>
                    </a:p>
                  </a:txBody>
                  <a:tcPr marL="91425" marR="91425" marT="91425" marB="91425">
                    <a:lnT w="952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it">
                          <a:solidFill>
                            <a:schemeClr val="dk1"/>
                          </a:solidFill>
                        </a:rPr>
                        <a:t>15509</a:t>
                      </a:r>
                      <a:endParaRPr>
                        <a:solidFill>
                          <a:schemeClr val="dk1"/>
                        </a:solidFill>
                      </a:endParaRPr>
                    </a:p>
                  </a:txBody>
                  <a:tcPr marL="91425" marR="91425" marT="91425" marB="91425">
                    <a:lnT w="9525" cap="flat" cmpd="sng">
                      <a:solidFill>
                        <a:srgbClr val="9E9E9E"/>
                      </a:solidFill>
                      <a:prstDash val="solid"/>
                      <a:round/>
                      <a:headEnd type="none" w="sm" len="sm"/>
                      <a:tailEnd type="none" w="sm" len="sm"/>
                    </a:lnT>
                    <a:solidFill>
                      <a:srgbClr val="CCCCCC"/>
                    </a:solidFill>
                  </a:tcPr>
                </a:tc>
                <a:extLst>
                  <a:ext uri="{0D108BD9-81ED-4DB2-BD59-A6C34878D82A}">
                    <a16:rowId xmlns:a16="http://schemas.microsoft.com/office/drawing/2014/main" val="10010"/>
                  </a:ext>
                </a:extLst>
              </a:tr>
            </a:tbl>
          </a:graphicData>
        </a:graphic>
      </p:graphicFrame>
      <p:sp>
        <p:nvSpPr>
          <p:cNvPr id="128" name="Google Shape;128;p21"/>
          <p:cNvSpPr txBox="1">
            <a:spLocks noGrp="1"/>
          </p:cNvSpPr>
          <p:nvPr>
            <p:ph type="title" idx="4294967295"/>
          </p:nvPr>
        </p:nvSpPr>
        <p:spPr>
          <a:xfrm>
            <a:off x="808275" y="0"/>
            <a:ext cx="400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Results (PA-LSTM)</a:t>
            </a:r>
            <a:endParaRPr sz="3020" b="1"/>
          </a:p>
        </p:txBody>
      </p:sp>
      <p:sp>
        <p:nvSpPr>
          <p:cNvPr id="129" name="Google Shape;129;p21"/>
          <p:cNvSpPr txBox="1"/>
          <p:nvPr/>
        </p:nvSpPr>
        <p:spPr>
          <a:xfrm>
            <a:off x="4297625" y="281900"/>
            <a:ext cx="40005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100">
                <a:solidFill>
                  <a:schemeClr val="dk1"/>
                </a:solidFill>
              </a:rPr>
              <a:t>(*) Means the relation was never predicted on the test set</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graphicFrame>
        <p:nvGraphicFramePr>
          <p:cNvPr id="134" name="Google Shape;134;p22"/>
          <p:cNvGraphicFramePr/>
          <p:nvPr>
            <p:extLst>
              <p:ext uri="{D42A27DB-BD31-4B8C-83A1-F6EECF244321}">
                <p14:modId xmlns:p14="http://schemas.microsoft.com/office/powerpoint/2010/main" val="3020330819"/>
              </p:ext>
            </p:extLst>
          </p:nvPr>
        </p:nvGraphicFramePr>
        <p:xfrm>
          <a:off x="961938" y="228600"/>
          <a:ext cx="7220125" cy="1188630"/>
        </p:xfrm>
        <a:graphic>
          <a:graphicData uri="http://schemas.openxmlformats.org/drawingml/2006/table">
            <a:tbl>
              <a:tblPr>
                <a:noFill/>
                <a:tableStyleId>{4D1C2B5F-1C65-4827-960B-BEEF89DE0A51}</a:tableStyleId>
              </a:tblPr>
              <a:tblGrid>
                <a:gridCol w="1444025">
                  <a:extLst>
                    <a:ext uri="{9D8B030D-6E8A-4147-A177-3AD203B41FA5}">
                      <a16:colId xmlns:a16="http://schemas.microsoft.com/office/drawing/2014/main" val="20000"/>
                    </a:ext>
                  </a:extLst>
                </a:gridCol>
                <a:gridCol w="1444025">
                  <a:extLst>
                    <a:ext uri="{9D8B030D-6E8A-4147-A177-3AD203B41FA5}">
                      <a16:colId xmlns:a16="http://schemas.microsoft.com/office/drawing/2014/main" val="20001"/>
                    </a:ext>
                  </a:extLst>
                </a:gridCol>
                <a:gridCol w="1444025">
                  <a:extLst>
                    <a:ext uri="{9D8B030D-6E8A-4147-A177-3AD203B41FA5}">
                      <a16:colId xmlns:a16="http://schemas.microsoft.com/office/drawing/2014/main" val="20002"/>
                    </a:ext>
                  </a:extLst>
                </a:gridCol>
                <a:gridCol w="1444025">
                  <a:extLst>
                    <a:ext uri="{9D8B030D-6E8A-4147-A177-3AD203B41FA5}">
                      <a16:colId xmlns:a16="http://schemas.microsoft.com/office/drawing/2014/main" val="20003"/>
                    </a:ext>
                  </a:extLst>
                </a:gridCol>
                <a:gridCol w="1444025">
                  <a:extLst>
                    <a:ext uri="{9D8B030D-6E8A-4147-A177-3AD203B41FA5}">
                      <a16:colId xmlns:a16="http://schemas.microsoft.com/office/drawing/2014/main" val="20004"/>
                    </a:ext>
                  </a:extLst>
                </a:gridCol>
              </a:tblGrid>
              <a:tr h="392075">
                <a:tc>
                  <a:txBody>
                    <a:bodyPr/>
                    <a:lstStyle/>
                    <a:p>
                      <a:pPr marL="0" lvl="0" indent="0" algn="l" rtl="0">
                        <a:spcBef>
                          <a:spcPts val="0"/>
                        </a:spcBef>
                        <a:spcAft>
                          <a:spcPts val="0"/>
                        </a:spcAft>
                        <a:buNone/>
                      </a:pPr>
                      <a:r>
                        <a:rPr lang="it" b="1"/>
                        <a:t>Model</a:t>
                      </a:r>
                      <a:endParaRPr b="1"/>
                    </a:p>
                  </a:txBody>
                  <a:tcPr marL="91425" marR="91425" marT="91425" marB="91425">
                    <a:solidFill>
                      <a:schemeClr val="accent1"/>
                    </a:solidFill>
                  </a:tcPr>
                </a:tc>
                <a:tc>
                  <a:txBody>
                    <a:bodyPr/>
                    <a:lstStyle/>
                    <a:p>
                      <a:pPr marL="0" lvl="0" indent="0" algn="l" rtl="0">
                        <a:spcBef>
                          <a:spcPts val="0"/>
                        </a:spcBef>
                        <a:spcAft>
                          <a:spcPts val="0"/>
                        </a:spcAft>
                        <a:buNone/>
                      </a:pPr>
                      <a:r>
                        <a:rPr lang="it" b="1"/>
                        <a:t>F1</a:t>
                      </a:r>
                      <a:endParaRPr b="1"/>
                    </a:p>
                  </a:txBody>
                  <a:tcPr marL="91425" marR="91425" marT="91425" marB="91425">
                    <a:solidFill>
                      <a:schemeClr val="accent1"/>
                    </a:solidFill>
                  </a:tcPr>
                </a:tc>
                <a:tc>
                  <a:txBody>
                    <a:bodyPr/>
                    <a:lstStyle/>
                    <a:p>
                      <a:pPr marL="0" lvl="0" indent="0" algn="l" rtl="0">
                        <a:spcBef>
                          <a:spcPts val="0"/>
                        </a:spcBef>
                        <a:spcAft>
                          <a:spcPts val="0"/>
                        </a:spcAft>
                        <a:buNone/>
                      </a:pPr>
                      <a:r>
                        <a:rPr lang="it" b="1"/>
                        <a:t>Precision</a:t>
                      </a:r>
                      <a:endParaRPr b="1"/>
                    </a:p>
                  </a:txBody>
                  <a:tcPr marL="91425" marR="91425" marT="91425" marB="91425">
                    <a:solidFill>
                      <a:schemeClr val="accent1"/>
                    </a:solidFill>
                  </a:tcPr>
                </a:tc>
                <a:tc>
                  <a:txBody>
                    <a:bodyPr/>
                    <a:lstStyle/>
                    <a:p>
                      <a:pPr marL="0" lvl="0" indent="0" algn="l" rtl="0">
                        <a:spcBef>
                          <a:spcPts val="0"/>
                        </a:spcBef>
                        <a:spcAft>
                          <a:spcPts val="0"/>
                        </a:spcAft>
                        <a:buNone/>
                      </a:pPr>
                      <a:r>
                        <a:rPr lang="it" b="1"/>
                        <a:t>Recall</a:t>
                      </a:r>
                      <a:endParaRPr b="1"/>
                    </a:p>
                  </a:txBody>
                  <a:tcPr marL="91425" marR="91425" marT="91425" marB="91425">
                    <a:solidFill>
                      <a:schemeClr val="accent1"/>
                    </a:solidFill>
                  </a:tcPr>
                </a:tc>
                <a:tc>
                  <a:txBody>
                    <a:bodyPr/>
                    <a:lstStyle/>
                    <a:p>
                      <a:pPr marL="0" lvl="0" indent="0" algn="l" rtl="0">
                        <a:spcBef>
                          <a:spcPts val="0"/>
                        </a:spcBef>
                        <a:spcAft>
                          <a:spcPts val="0"/>
                        </a:spcAft>
                        <a:buNone/>
                      </a:pPr>
                      <a:r>
                        <a:rPr lang="it" b="1"/>
                        <a:t>#Recall 0</a:t>
                      </a:r>
                      <a:endParaRPr b="1"/>
                    </a:p>
                  </a:txBody>
                  <a:tcPr marL="91425" marR="91425" marT="91425" marB="91425">
                    <a:solidFill>
                      <a:schemeClr val="accent1"/>
                    </a:solidFill>
                  </a:tcPr>
                </a:tc>
                <a:extLst>
                  <a:ext uri="{0D108BD9-81ED-4DB2-BD59-A6C34878D82A}">
                    <a16:rowId xmlns:a16="http://schemas.microsoft.com/office/drawing/2014/main" val="10000"/>
                  </a:ext>
                </a:extLst>
              </a:tr>
              <a:tr h="372000">
                <a:tc>
                  <a:txBody>
                    <a:bodyPr/>
                    <a:lstStyle/>
                    <a:p>
                      <a:pPr marL="0" lvl="0" indent="0" algn="l" rtl="0">
                        <a:spcBef>
                          <a:spcPts val="0"/>
                        </a:spcBef>
                        <a:spcAft>
                          <a:spcPts val="0"/>
                        </a:spcAft>
                        <a:buNone/>
                      </a:pPr>
                      <a:r>
                        <a:rPr lang="it" b="1"/>
                        <a:t>RF</a:t>
                      </a:r>
                      <a:endParaRPr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it" dirty="0">
                          <a:solidFill>
                            <a:schemeClr val="dk1"/>
                          </a:solidFill>
                        </a:rPr>
                        <a:t>48%</a:t>
                      </a:r>
                      <a:endParaRPr dirty="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it" dirty="0">
                          <a:solidFill>
                            <a:schemeClr val="dk1"/>
                          </a:solidFill>
                        </a:rPr>
                        <a:t>46%</a:t>
                      </a:r>
                      <a:endParaRPr dirty="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it" sz="1200" i="1" dirty="0">
                          <a:solidFill>
                            <a:schemeClr val="dk1"/>
                          </a:solidFill>
                        </a:rPr>
                        <a:t>49%</a:t>
                      </a:r>
                      <a:endParaRPr dirty="0"/>
                    </a:p>
                  </a:txBody>
                  <a:tcPr marL="91425" marR="91425" marT="91425" marB="91425"/>
                </a:tc>
                <a:tc>
                  <a:txBody>
                    <a:bodyPr/>
                    <a:lstStyle/>
                    <a:p>
                      <a:pPr marL="0" lvl="0" indent="0" algn="ctr" rtl="0">
                        <a:spcBef>
                          <a:spcPts val="0"/>
                        </a:spcBef>
                        <a:spcAft>
                          <a:spcPts val="0"/>
                        </a:spcAft>
                        <a:buNone/>
                      </a:pPr>
                      <a:r>
                        <a:rPr lang="it">
                          <a:solidFill>
                            <a:schemeClr val="dk1"/>
                          </a:solidFill>
                        </a:rPr>
                        <a:t>9</a:t>
                      </a:r>
                      <a:endParaRPr sz="1200" i="1">
                        <a:solidFill>
                          <a:schemeClr val="dk1"/>
                        </a:solidFill>
                      </a:endParaRPr>
                    </a:p>
                  </a:txBody>
                  <a:tcPr marL="91425" marR="91425" marT="91425" marB="91425"/>
                </a:tc>
                <a:extLst>
                  <a:ext uri="{0D108BD9-81ED-4DB2-BD59-A6C34878D82A}">
                    <a16:rowId xmlns:a16="http://schemas.microsoft.com/office/drawing/2014/main" val="10001"/>
                  </a:ext>
                </a:extLst>
              </a:tr>
              <a:tr h="372000">
                <a:tc>
                  <a:txBody>
                    <a:bodyPr/>
                    <a:lstStyle/>
                    <a:p>
                      <a:pPr marL="0" lvl="0" indent="0" algn="l" rtl="0">
                        <a:spcBef>
                          <a:spcPts val="0"/>
                        </a:spcBef>
                        <a:spcAft>
                          <a:spcPts val="0"/>
                        </a:spcAft>
                        <a:buNone/>
                      </a:pPr>
                      <a:r>
                        <a:rPr lang="it" b="1"/>
                        <a:t>PA-LSTM</a:t>
                      </a:r>
                      <a:endParaRPr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it">
                          <a:solidFill>
                            <a:schemeClr val="dk1"/>
                          </a:solidFill>
                        </a:rPr>
                        <a:t>69.2%</a:t>
                      </a:r>
                      <a:endParaRPr/>
                    </a:p>
                  </a:txBody>
                  <a:tcPr marL="91425" marR="91425" marT="91425" marB="91425"/>
                </a:tc>
                <a:tc>
                  <a:txBody>
                    <a:bodyPr/>
                    <a:lstStyle/>
                    <a:p>
                      <a:pPr marL="0" lvl="0" indent="0" algn="ctr" rtl="0">
                        <a:spcBef>
                          <a:spcPts val="0"/>
                        </a:spcBef>
                        <a:spcAft>
                          <a:spcPts val="0"/>
                        </a:spcAft>
                        <a:buNone/>
                      </a:pPr>
                      <a:r>
                        <a:rPr lang="it">
                          <a:solidFill>
                            <a:schemeClr val="dk1"/>
                          </a:solidFill>
                        </a:rPr>
                        <a:t>69.2%</a:t>
                      </a:r>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it">
                          <a:solidFill>
                            <a:schemeClr val="dk1"/>
                          </a:solidFill>
                        </a:rPr>
                        <a:t>69.5%</a:t>
                      </a:r>
                      <a:endParaRPr/>
                    </a:p>
                  </a:txBody>
                  <a:tcPr marL="91425" marR="91425" marT="91425" marB="91425"/>
                </a:tc>
                <a:tc>
                  <a:txBody>
                    <a:bodyPr/>
                    <a:lstStyle/>
                    <a:p>
                      <a:pPr marL="0" lvl="0" indent="0" algn="ctr" rtl="0">
                        <a:spcBef>
                          <a:spcPts val="0"/>
                        </a:spcBef>
                        <a:spcAft>
                          <a:spcPts val="0"/>
                        </a:spcAft>
                        <a:buNone/>
                      </a:pPr>
                      <a:r>
                        <a:rPr lang="it" dirty="0">
                          <a:solidFill>
                            <a:schemeClr val="dk1"/>
                          </a:solidFill>
                        </a:rPr>
                        <a:t>5</a:t>
                      </a:r>
                      <a:endParaRPr dirty="0">
                        <a:solidFill>
                          <a:schemeClr val="dk1"/>
                        </a:solidFill>
                      </a:endParaRPr>
                    </a:p>
                  </a:txBody>
                  <a:tcPr marL="91425" marR="91425" marT="91425" marB="91425"/>
                </a:tc>
                <a:extLst>
                  <a:ext uri="{0D108BD9-81ED-4DB2-BD59-A6C34878D82A}">
                    <a16:rowId xmlns:a16="http://schemas.microsoft.com/office/drawing/2014/main" val="10002"/>
                  </a:ext>
                </a:extLst>
              </a:tr>
            </a:tbl>
          </a:graphicData>
        </a:graphic>
      </p:graphicFrame>
      <p:pic>
        <p:nvPicPr>
          <p:cNvPr id="135" name="Google Shape;135;p22"/>
          <p:cNvPicPr preferRelativeResize="0"/>
          <p:nvPr/>
        </p:nvPicPr>
        <p:blipFill rotWithShape="1">
          <a:blip r:embed="rId3">
            <a:alphaModFix/>
          </a:blip>
          <a:srcRect b="5132"/>
          <a:stretch/>
        </p:blipFill>
        <p:spPr>
          <a:xfrm>
            <a:off x="1689600" y="1559200"/>
            <a:ext cx="5764801" cy="3557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title" idx="4294967295"/>
          </p:nvPr>
        </p:nvSpPr>
        <p:spPr>
          <a:xfrm>
            <a:off x="311700" y="1619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Error Analysis</a:t>
            </a:r>
            <a:endParaRPr sz="3020" b="1"/>
          </a:p>
        </p:txBody>
      </p:sp>
      <p:sp>
        <p:nvSpPr>
          <p:cNvPr id="141" name="Google Shape;141;p23"/>
          <p:cNvSpPr txBox="1">
            <a:spLocks noGrp="1"/>
          </p:cNvSpPr>
          <p:nvPr>
            <p:ph type="body" idx="4294967295"/>
          </p:nvPr>
        </p:nvSpPr>
        <p:spPr>
          <a:xfrm>
            <a:off x="311700" y="1033700"/>
            <a:ext cx="8410200" cy="39768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it" sz="2200"/>
              <a:t>Trying to identify relation-agnostic aspects of the sentences that affect the performance (sentence length, distance between entities).</a:t>
            </a:r>
            <a:endParaRPr sz="2200"/>
          </a:p>
          <a:p>
            <a:pPr marL="457200" lvl="0" indent="0" algn="l" rtl="0">
              <a:spcBef>
                <a:spcPts val="1200"/>
              </a:spcBef>
              <a:spcAft>
                <a:spcPts val="1200"/>
              </a:spcAft>
              <a:buNone/>
            </a:pP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a:spLocks noGrp="1"/>
          </p:cNvSpPr>
          <p:nvPr>
            <p:ph type="title" idx="4294967295"/>
          </p:nvPr>
        </p:nvSpPr>
        <p:spPr>
          <a:xfrm>
            <a:off x="311700" y="1619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Error Analysis</a:t>
            </a:r>
            <a:endParaRPr sz="3020" b="1"/>
          </a:p>
        </p:txBody>
      </p:sp>
      <p:sp>
        <p:nvSpPr>
          <p:cNvPr id="147" name="Google Shape;147;p24"/>
          <p:cNvSpPr txBox="1">
            <a:spLocks noGrp="1"/>
          </p:cNvSpPr>
          <p:nvPr>
            <p:ph type="body" idx="4294967295"/>
          </p:nvPr>
        </p:nvSpPr>
        <p:spPr>
          <a:xfrm>
            <a:off x="311700" y="1033700"/>
            <a:ext cx="8410200" cy="39768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it" sz="2200"/>
              <a:t>Trying to identify relation-agnostic aspects of the sentences that affect the performance (sentence length, distance between entities).</a:t>
            </a:r>
            <a:endParaRPr sz="2200"/>
          </a:p>
          <a:p>
            <a:pPr marL="457200" lvl="0" indent="-368300" algn="l" rtl="0">
              <a:spcBef>
                <a:spcPts val="0"/>
              </a:spcBef>
              <a:spcAft>
                <a:spcPts val="0"/>
              </a:spcAft>
              <a:buSzPts val="2200"/>
              <a:buChar char="●"/>
            </a:pPr>
            <a:r>
              <a:rPr lang="it" sz="2200"/>
              <a:t>Exploration</a:t>
            </a:r>
            <a:r>
              <a:rPr lang="it" sz="2200">
                <a:solidFill>
                  <a:schemeClr val="accent1"/>
                </a:solidFill>
              </a:rPr>
              <a:t> </a:t>
            </a:r>
            <a:r>
              <a:rPr lang="it" sz="2200"/>
              <a:t>into groups of relations of similar meaning, as outlined in the </a:t>
            </a:r>
            <a:r>
              <a:rPr lang="it" sz="2200" u="sng">
                <a:solidFill>
                  <a:schemeClr val="hlink"/>
                </a:solidFill>
                <a:hlinkClick r:id="rId3"/>
              </a:rPr>
              <a:t>annotation guidelines</a:t>
            </a:r>
            <a:r>
              <a:rPr lang="it" sz="2200"/>
              <a:t>.</a:t>
            </a:r>
            <a:endParaRPr sz="2200"/>
          </a:p>
          <a:p>
            <a:pPr marL="457200" lvl="0" indent="0" algn="l" rtl="0">
              <a:spcBef>
                <a:spcPts val="1200"/>
              </a:spcBef>
              <a:spcAft>
                <a:spcPts val="1200"/>
              </a:spcAft>
              <a:buNone/>
            </a:pPr>
            <a:endParaRPr sz="2200"/>
          </a:p>
        </p:txBody>
      </p:sp>
      <p:pic>
        <p:nvPicPr>
          <p:cNvPr id="148" name="Google Shape;148;p24"/>
          <p:cNvPicPr preferRelativeResize="0"/>
          <p:nvPr/>
        </p:nvPicPr>
        <p:blipFill>
          <a:blip r:embed="rId4">
            <a:alphaModFix/>
          </a:blip>
          <a:stretch>
            <a:fillRect/>
          </a:stretch>
        </p:blipFill>
        <p:spPr>
          <a:xfrm>
            <a:off x="730250" y="3609750"/>
            <a:ext cx="8102050" cy="1135025"/>
          </a:xfrm>
          <a:prstGeom prst="rect">
            <a:avLst/>
          </a:prstGeom>
          <a:noFill/>
          <a:ln>
            <a:noFill/>
          </a:ln>
        </p:spPr>
      </p:pic>
      <p:pic>
        <p:nvPicPr>
          <p:cNvPr id="149" name="Google Shape;149;p24"/>
          <p:cNvPicPr preferRelativeResize="0"/>
          <p:nvPr/>
        </p:nvPicPr>
        <p:blipFill>
          <a:blip r:embed="rId5">
            <a:alphaModFix/>
          </a:blip>
          <a:stretch>
            <a:fillRect/>
          </a:stretch>
        </p:blipFill>
        <p:spPr>
          <a:xfrm>
            <a:off x="730250" y="3323275"/>
            <a:ext cx="1943100" cy="286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5"/>
          <p:cNvSpPr txBox="1"/>
          <p:nvPr/>
        </p:nvSpPr>
        <p:spPr>
          <a:xfrm>
            <a:off x="5778950" y="1535350"/>
            <a:ext cx="3222900" cy="24012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2"/>
              </a:buClr>
              <a:buSzPts val="1600"/>
              <a:buChar char="●"/>
            </a:pPr>
            <a:r>
              <a:rPr lang="it" sz="1600">
                <a:solidFill>
                  <a:schemeClr val="dk2"/>
                </a:solidFill>
              </a:rPr>
              <a:t>The </a:t>
            </a:r>
            <a:r>
              <a:rPr lang="it" sz="1600" u="sng">
                <a:solidFill>
                  <a:schemeClr val="dk2"/>
                </a:solidFill>
              </a:rPr>
              <a:t>best combination </a:t>
            </a:r>
            <a:r>
              <a:rPr lang="it" sz="1600">
                <a:solidFill>
                  <a:schemeClr val="dk2"/>
                </a:solidFill>
              </a:rPr>
              <a:t>is when the sentence is long but the distance between subject and object is small.</a:t>
            </a:r>
            <a:endParaRPr sz="1600">
              <a:solidFill>
                <a:schemeClr val="dk2"/>
              </a:solidFill>
            </a:endParaRPr>
          </a:p>
          <a:p>
            <a:pPr marL="0" lvl="0" indent="0" algn="l" rtl="0">
              <a:spcBef>
                <a:spcPts val="0"/>
              </a:spcBef>
              <a:spcAft>
                <a:spcPts val="0"/>
              </a:spcAft>
              <a:buNone/>
            </a:pPr>
            <a:endParaRPr sz="1600">
              <a:solidFill>
                <a:schemeClr val="dk2"/>
              </a:solidFill>
            </a:endParaRPr>
          </a:p>
          <a:p>
            <a:pPr marL="457200" lvl="0" indent="-330200" algn="l" rtl="0">
              <a:spcBef>
                <a:spcPts val="0"/>
              </a:spcBef>
              <a:spcAft>
                <a:spcPts val="0"/>
              </a:spcAft>
              <a:buClr>
                <a:schemeClr val="dk2"/>
              </a:buClr>
              <a:buSzPts val="1600"/>
              <a:buChar char="●"/>
            </a:pPr>
            <a:r>
              <a:rPr lang="it" sz="1600">
                <a:solidFill>
                  <a:schemeClr val="dk2"/>
                </a:solidFill>
              </a:rPr>
              <a:t>The </a:t>
            </a:r>
            <a:r>
              <a:rPr lang="it" sz="1600" u="sng">
                <a:solidFill>
                  <a:schemeClr val="dk2"/>
                </a:solidFill>
              </a:rPr>
              <a:t>worst case </a:t>
            </a:r>
            <a:r>
              <a:rPr lang="it" sz="1600">
                <a:solidFill>
                  <a:schemeClr val="dk2"/>
                </a:solidFill>
              </a:rPr>
              <a:t>is when both the sentence length and the distance between entities are long.</a:t>
            </a:r>
            <a:endParaRPr sz="1600">
              <a:solidFill>
                <a:schemeClr val="dk2"/>
              </a:solidFill>
            </a:endParaRPr>
          </a:p>
        </p:txBody>
      </p:sp>
      <p:pic>
        <p:nvPicPr>
          <p:cNvPr id="155" name="Google Shape;155;p25"/>
          <p:cNvPicPr preferRelativeResize="0"/>
          <p:nvPr/>
        </p:nvPicPr>
        <p:blipFill>
          <a:blip r:embed="rId3">
            <a:alphaModFix/>
          </a:blip>
          <a:stretch>
            <a:fillRect/>
          </a:stretch>
        </p:blipFill>
        <p:spPr>
          <a:xfrm>
            <a:off x="155100" y="1105975"/>
            <a:ext cx="5474150" cy="3362433"/>
          </a:xfrm>
          <a:prstGeom prst="rect">
            <a:avLst/>
          </a:prstGeom>
          <a:noFill/>
          <a:ln>
            <a:noFill/>
          </a:ln>
        </p:spPr>
      </p:pic>
      <p:sp>
        <p:nvSpPr>
          <p:cNvPr id="156" name="Google Shape;156;p25"/>
          <p:cNvSpPr txBox="1">
            <a:spLocks noGrp="1"/>
          </p:cNvSpPr>
          <p:nvPr>
            <p:ph type="title"/>
          </p:nvPr>
        </p:nvSpPr>
        <p:spPr>
          <a:xfrm>
            <a:off x="697825" y="365125"/>
            <a:ext cx="4388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Error Analysis (RF)</a:t>
            </a:r>
            <a:endParaRPr sz="302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p:nvPr/>
        </p:nvSpPr>
        <p:spPr>
          <a:xfrm>
            <a:off x="5778950" y="1535350"/>
            <a:ext cx="3222900" cy="28323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2"/>
              </a:buClr>
              <a:buSzPts val="1600"/>
              <a:buChar char="●"/>
            </a:pPr>
            <a:r>
              <a:rPr lang="it" sz="1600">
                <a:solidFill>
                  <a:schemeClr val="dk2"/>
                </a:solidFill>
              </a:rPr>
              <a:t>F1 score way above average for shorter sentences.</a:t>
            </a:r>
            <a:endParaRPr sz="1600">
              <a:solidFill>
                <a:schemeClr val="dk2"/>
              </a:solidFill>
            </a:endParaRPr>
          </a:p>
          <a:p>
            <a:pPr marL="457200" lvl="0" indent="0" algn="l" rtl="0">
              <a:spcBef>
                <a:spcPts val="0"/>
              </a:spcBef>
              <a:spcAft>
                <a:spcPts val="0"/>
              </a:spcAft>
              <a:buNone/>
            </a:pPr>
            <a:endParaRPr>
              <a:solidFill>
                <a:schemeClr val="dk2"/>
              </a:solidFill>
            </a:endParaRPr>
          </a:p>
          <a:p>
            <a:pPr marL="457200" lvl="0" indent="-330200" algn="l" rtl="0">
              <a:spcBef>
                <a:spcPts val="0"/>
              </a:spcBef>
              <a:spcAft>
                <a:spcPts val="0"/>
              </a:spcAft>
              <a:buClr>
                <a:schemeClr val="dk2"/>
              </a:buClr>
              <a:buSzPts val="1600"/>
              <a:buChar char="●"/>
            </a:pPr>
            <a:r>
              <a:rPr lang="it" sz="1600">
                <a:solidFill>
                  <a:schemeClr val="dk2"/>
                </a:solidFill>
              </a:rPr>
              <a:t>Worst performance on long sentences with long distance between entities</a:t>
            </a:r>
            <a:endParaRPr sz="1600">
              <a:solidFill>
                <a:schemeClr val="dk2"/>
              </a:solidFill>
            </a:endParaRPr>
          </a:p>
          <a:p>
            <a:pPr marL="457200" lvl="0" indent="0" algn="l" rtl="0">
              <a:spcBef>
                <a:spcPts val="0"/>
              </a:spcBef>
              <a:spcAft>
                <a:spcPts val="0"/>
              </a:spcAft>
              <a:buNone/>
            </a:pPr>
            <a:endParaRPr>
              <a:solidFill>
                <a:schemeClr val="dk2"/>
              </a:solidFill>
            </a:endParaRPr>
          </a:p>
          <a:p>
            <a:pPr marL="457200" lvl="0" indent="-330200" algn="l" rtl="0">
              <a:spcBef>
                <a:spcPts val="0"/>
              </a:spcBef>
              <a:spcAft>
                <a:spcPts val="0"/>
              </a:spcAft>
              <a:buClr>
                <a:schemeClr val="dk2"/>
              </a:buClr>
              <a:buSzPts val="1600"/>
              <a:buChar char="●"/>
            </a:pPr>
            <a:r>
              <a:rPr lang="it" sz="1600">
                <a:solidFill>
                  <a:schemeClr val="dk2"/>
                </a:solidFill>
              </a:rPr>
              <a:t>Recall seems to be more affected.</a:t>
            </a:r>
            <a:endParaRPr sz="2200">
              <a:solidFill>
                <a:schemeClr val="dk2"/>
              </a:solidFill>
            </a:endParaRPr>
          </a:p>
          <a:p>
            <a:pPr marL="0" lvl="0" indent="0" algn="l" rtl="0">
              <a:spcBef>
                <a:spcPts val="0"/>
              </a:spcBef>
              <a:spcAft>
                <a:spcPts val="0"/>
              </a:spcAft>
              <a:buNone/>
            </a:pPr>
            <a:endParaRPr sz="1600">
              <a:solidFill>
                <a:schemeClr val="dk2"/>
              </a:solidFill>
            </a:endParaRPr>
          </a:p>
        </p:txBody>
      </p:sp>
      <p:sp>
        <p:nvSpPr>
          <p:cNvPr id="162" name="Google Shape;162;p26"/>
          <p:cNvSpPr txBox="1">
            <a:spLocks noGrp="1"/>
          </p:cNvSpPr>
          <p:nvPr>
            <p:ph type="title"/>
          </p:nvPr>
        </p:nvSpPr>
        <p:spPr>
          <a:xfrm>
            <a:off x="697825" y="365125"/>
            <a:ext cx="4388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Error Analysis (DL)</a:t>
            </a:r>
            <a:endParaRPr sz="3020" b="1"/>
          </a:p>
        </p:txBody>
      </p:sp>
      <p:pic>
        <p:nvPicPr>
          <p:cNvPr id="163" name="Google Shape;163;p26"/>
          <p:cNvPicPr preferRelativeResize="0"/>
          <p:nvPr/>
        </p:nvPicPr>
        <p:blipFill>
          <a:blip r:embed="rId3">
            <a:alphaModFix/>
          </a:blip>
          <a:stretch>
            <a:fillRect/>
          </a:stretch>
        </p:blipFill>
        <p:spPr>
          <a:xfrm>
            <a:off x="167325" y="1125188"/>
            <a:ext cx="5449700" cy="33739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7"/>
          <p:cNvSpPr txBox="1">
            <a:spLocks noGrp="1"/>
          </p:cNvSpPr>
          <p:nvPr>
            <p:ph type="title" idx="4294967295"/>
          </p:nvPr>
        </p:nvSpPr>
        <p:spPr>
          <a:xfrm>
            <a:off x="311700" y="1619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Analysis of similar relations</a:t>
            </a:r>
            <a:endParaRPr sz="3020" b="1"/>
          </a:p>
        </p:txBody>
      </p:sp>
      <p:sp>
        <p:nvSpPr>
          <p:cNvPr id="169" name="Google Shape;169;p27"/>
          <p:cNvSpPr txBox="1">
            <a:spLocks noGrp="1"/>
          </p:cNvSpPr>
          <p:nvPr>
            <p:ph type="body" idx="4294967295"/>
          </p:nvPr>
        </p:nvSpPr>
        <p:spPr>
          <a:xfrm>
            <a:off x="366900" y="1673350"/>
            <a:ext cx="8410200" cy="1407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it" sz="2200"/>
              <a:t>Most common wrong assignments involve </a:t>
            </a:r>
            <a:r>
              <a:rPr lang="it" sz="2200" i="1"/>
              <a:t>no_relation</a:t>
            </a:r>
            <a:r>
              <a:rPr lang="it" sz="2200"/>
              <a:t> label. Other errors are mostly within similar groups. This agrees with changes from TACRED to TACREV.</a:t>
            </a:r>
            <a:endParaRPr sz="2200"/>
          </a:p>
        </p:txBody>
      </p:sp>
      <p:sp>
        <p:nvSpPr>
          <p:cNvPr id="170" name="Google Shape;170;p27"/>
          <p:cNvSpPr txBox="1"/>
          <p:nvPr/>
        </p:nvSpPr>
        <p:spPr>
          <a:xfrm>
            <a:off x="290700" y="734600"/>
            <a:ext cx="8851800" cy="76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sz="1800">
                <a:solidFill>
                  <a:schemeClr val="dk1"/>
                </a:solidFill>
              </a:rPr>
              <a:t>Consider:</a:t>
            </a:r>
            <a:r>
              <a:rPr lang="it" sz="1800" i="1">
                <a:solidFill>
                  <a:schemeClr val="accent1"/>
                </a:solidFill>
              </a:rPr>
              <a:t> org:members_of, org:members, </a:t>
            </a:r>
            <a:r>
              <a:rPr lang="it" sz="1800" i="1">
                <a:solidFill>
                  <a:schemeClr val="dk2"/>
                </a:solidFill>
              </a:rPr>
              <a:t>org:shareholders, </a:t>
            </a:r>
            <a:r>
              <a:rPr lang="it" sz="1800" i="1">
                <a:solidFill>
                  <a:srgbClr val="FF9900"/>
                </a:solidFill>
              </a:rPr>
              <a:t>org:parents, org:subsidiaries</a:t>
            </a:r>
            <a:endParaRPr sz="1800" i="1">
              <a:solidFill>
                <a:srgbClr val="FF9900"/>
              </a:solidFill>
            </a:endParaRPr>
          </a:p>
        </p:txBody>
      </p:sp>
      <p:sp>
        <p:nvSpPr>
          <p:cNvPr id="171" name="Google Shape;171;p27"/>
          <p:cNvSpPr txBox="1"/>
          <p:nvPr/>
        </p:nvSpPr>
        <p:spPr>
          <a:xfrm>
            <a:off x="-9525" y="3740150"/>
            <a:ext cx="2444700" cy="71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it" sz="1600">
                <a:solidFill>
                  <a:schemeClr val="dk2"/>
                </a:solidFill>
              </a:rPr>
              <a:t>org:parents  </a:t>
            </a:r>
            <a:endParaRPr sz="1600">
              <a:solidFill>
                <a:schemeClr val="dk2"/>
              </a:solidFill>
            </a:endParaRPr>
          </a:p>
        </p:txBody>
      </p:sp>
      <p:sp>
        <p:nvSpPr>
          <p:cNvPr id="172" name="Google Shape;172;p27"/>
          <p:cNvSpPr txBox="1"/>
          <p:nvPr/>
        </p:nvSpPr>
        <p:spPr>
          <a:xfrm>
            <a:off x="2277550" y="3355725"/>
            <a:ext cx="2895600" cy="1407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sz="1600">
                <a:solidFill>
                  <a:schemeClr val="dk2"/>
                </a:solidFill>
              </a:rPr>
              <a:t>no_relation (18) </a:t>
            </a:r>
            <a:endParaRPr sz="1600">
              <a:solidFill>
                <a:schemeClr val="dk2"/>
              </a:solidFill>
            </a:endParaRPr>
          </a:p>
          <a:p>
            <a:pPr marL="0" lvl="0" indent="0" algn="l" rtl="0">
              <a:lnSpc>
                <a:spcPct val="115000"/>
              </a:lnSpc>
              <a:spcBef>
                <a:spcPts val="1200"/>
              </a:spcBef>
              <a:spcAft>
                <a:spcPts val="0"/>
              </a:spcAft>
              <a:buNone/>
            </a:pPr>
            <a:r>
              <a:rPr lang="it" sz="1600">
                <a:solidFill>
                  <a:schemeClr val="dk2"/>
                </a:solidFill>
              </a:rPr>
              <a:t>org:shareholders (1) </a:t>
            </a:r>
            <a:endParaRPr sz="1600">
              <a:solidFill>
                <a:schemeClr val="dk2"/>
              </a:solidFill>
            </a:endParaRPr>
          </a:p>
          <a:p>
            <a:pPr marL="0" lvl="0" indent="0" algn="l" rtl="0">
              <a:lnSpc>
                <a:spcPct val="115000"/>
              </a:lnSpc>
              <a:spcBef>
                <a:spcPts val="1200"/>
              </a:spcBef>
              <a:spcAft>
                <a:spcPts val="0"/>
              </a:spcAft>
              <a:buClr>
                <a:schemeClr val="dk1"/>
              </a:buClr>
              <a:buSzPts val="1100"/>
              <a:buFont typeface="Arial"/>
              <a:buNone/>
            </a:pPr>
            <a:r>
              <a:rPr lang="it" sz="1600">
                <a:solidFill>
                  <a:schemeClr val="dk2"/>
                </a:solidFill>
              </a:rPr>
              <a:t>org:subsidiaries (1)</a:t>
            </a:r>
            <a:endParaRPr sz="1600">
              <a:solidFill>
                <a:schemeClr val="dk2"/>
              </a:solidFill>
            </a:endParaRPr>
          </a:p>
          <a:p>
            <a:pPr marL="0" lvl="0" indent="0" algn="l" rtl="0">
              <a:spcBef>
                <a:spcPts val="1200"/>
              </a:spcBef>
              <a:spcAft>
                <a:spcPts val="0"/>
              </a:spcAft>
              <a:buClr>
                <a:schemeClr val="dk1"/>
              </a:buClr>
              <a:buSzPts val="1100"/>
              <a:buFont typeface="Arial"/>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cxnSp>
        <p:nvCxnSpPr>
          <p:cNvPr id="173" name="Google Shape;173;p27"/>
          <p:cNvCxnSpPr/>
          <p:nvPr/>
        </p:nvCxnSpPr>
        <p:spPr>
          <a:xfrm rot="10800000" flipH="1">
            <a:off x="1174550" y="3619025"/>
            <a:ext cx="1172100" cy="369600"/>
          </a:xfrm>
          <a:prstGeom prst="straightConnector1">
            <a:avLst/>
          </a:prstGeom>
          <a:noFill/>
          <a:ln w="9525" cap="flat" cmpd="sng">
            <a:solidFill>
              <a:schemeClr val="dk2"/>
            </a:solidFill>
            <a:prstDash val="solid"/>
            <a:round/>
            <a:headEnd type="none" w="med" len="med"/>
            <a:tailEnd type="triangle" w="med" len="med"/>
          </a:ln>
        </p:spPr>
      </p:cxnSp>
      <p:cxnSp>
        <p:nvCxnSpPr>
          <p:cNvPr id="174" name="Google Shape;174;p27"/>
          <p:cNvCxnSpPr/>
          <p:nvPr/>
        </p:nvCxnSpPr>
        <p:spPr>
          <a:xfrm>
            <a:off x="1232775" y="3997100"/>
            <a:ext cx="1113900" cy="35400"/>
          </a:xfrm>
          <a:prstGeom prst="straightConnector1">
            <a:avLst/>
          </a:prstGeom>
          <a:noFill/>
          <a:ln w="9525" cap="flat" cmpd="sng">
            <a:solidFill>
              <a:schemeClr val="dk2"/>
            </a:solidFill>
            <a:prstDash val="solid"/>
            <a:round/>
            <a:headEnd type="none" w="med" len="med"/>
            <a:tailEnd type="triangle" w="med" len="med"/>
          </a:ln>
        </p:spPr>
      </p:cxnSp>
      <p:cxnSp>
        <p:nvCxnSpPr>
          <p:cNvPr id="175" name="Google Shape;175;p27"/>
          <p:cNvCxnSpPr/>
          <p:nvPr/>
        </p:nvCxnSpPr>
        <p:spPr>
          <a:xfrm>
            <a:off x="1208975" y="4000850"/>
            <a:ext cx="1162800" cy="434700"/>
          </a:xfrm>
          <a:prstGeom prst="straightConnector1">
            <a:avLst/>
          </a:prstGeom>
          <a:noFill/>
          <a:ln w="9525" cap="flat" cmpd="sng">
            <a:solidFill>
              <a:schemeClr val="dk2"/>
            </a:solidFill>
            <a:prstDash val="solid"/>
            <a:round/>
            <a:headEnd type="none" w="med" len="med"/>
            <a:tailEnd type="triangle" w="med" len="med"/>
          </a:ln>
        </p:spPr>
      </p:cxnSp>
      <p:sp>
        <p:nvSpPr>
          <p:cNvPr id="176" name="Google Shape;176;p27"/>
          <p:cNvSpPr txBox="1"/>
          <p:nvPr/>
        </p:nvSpPr>
        <p:spPr>
          <a:xfrm>
            <a:off x="19775" y="3970550"/>
            <a:ext cx="1322100" cy="4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i="1">
                <a:solidFill>
                  <a:schemeClr val="dk2"/>
                </a:solidFill>
              </a:rPr>
              <a:t>(</a:t>
            </a:r>
            <a:r>
              <a:rPr lang="it" sz="1200" i="1">
                <a:solidFill>
                  <a:schemeClr val="dk2"/>
                </a:solidFill>
              </a:rPr>
              <a:t>TACRED</a:t>
            </a:r>
            <a:r>
              <a:rPr lang="it" i="1">
                <a:solidFill>
                  <a:schemeClr val="dk2"/>
                </a:solidFill>
              </a:rPr>
              <a:t>)</a:t>
            </a:r>
            <a:endParaRPr i="1">
              <a:solidFill>
                <a:schemeClr val="dk2"/>
              </a:solidFill>
            </a:endParaRPr>
          </a:p>
        </p:txBody>
      </p:sp>
      <p:sp>
        <p:nvSpPr>
          <p:cNvPr id="177" name="Google Shape;177;p27"/>
          <p:cNvSpPr txBox="1"/>
          <p:nvPr/>
        </p:nvSpPr>
        <p:spPr>
          <a:xfrm>
            <a:off x="2567325" y="4454450"/>
            <a:ext cx="1322100" cy="4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sz="1200" i="1">
                <a:solidFill>
                  <a:schemeClr val="dk2"/>
                </a:solidFill>
              </a:rPr>
              <a:t>(TACREV)</a:t>
            </a:r>
            <a:endParaRPr sz="1200" i="1">
              <a:solidFill>
                <a:schemeClr val="dk2"/>
              </a:solidFill>
            </a:endParaRPr>
          </a:p>
        </p:txBody>
      </p:sp>
      <p:sp>
        <p:nvSpPr>
          <p:cNvPr id="178" name="Google Shape;178;p27"/>
          <p:cNvSpPr txBox="1"/>
          <p:nvPr/>
        </p:nvSpPr>
        <p:spPr>
          <a:xfrm>
            <a:off x="4359275" y="3661638"/>
            <a:ext cx="2444700" cy="71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it" sz="1600">
                <a:solidFill>
                  <a:schemeClr val="dk2"/>
                </a:solidFill>
              </a:rPr>
              <a:t>org:shareholders  </a:t>
            </a:r>
            <a:endParaRPr sz="1600">
              <a:solidFill>
                <a:schemeClr val="dk2"/>
              </a:solidFill>
            </a:endParaRPr>
          </a:p>
        </p:txBody>
      </p:sp>
      <p:sp>
        <p:nvSpPr>
          <p:cNvPr id="179" name="Google Shape;179;p27"/>
          <p:cNvSpPr txBox="1"/>
          <p:nvPr/>
        </p:nvSpPr>
        <p:spPr>
          <a:xfrm>
            <a:off x="7027350" y="3277213"/>
            <a:ext cx="2895600" cy="1407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it" sz="1600">
                <a:solidFill>
                  <a:schemeClr val="dk2"/>
                </a:solidFill>
              </a:rPr>
              <a:t>no_relation (18) </a:t>
            </a:r>
            <a:endParaRPr sz="1600">
              <a:solidFill>
                <a:schemeClr val="dk2"/>
              </a:solidFill>
            </a:endParaRPr>
          </a:p>
          <a:p>
            <a:pPr marL="0" lvl="0" indent="0" algn="l" rtl="0">
              <a:lnSpc>
                <a:spcPct val="115000"/>
              </a:lnSpc>
              <a:spcBef>
                <a:spcPts val="1200"/>
              </a:spcBef>
              <a:spcAft>
                <a:spcPts val="0"/>
              </a:spcAft>
              <a:buNone/>
            </a:pPr>
            <a:r>
              <a:rPr lang="it" sz="1600">
                <a:solidFill>
                  <a:schemeClr val="dk2"/>
                </a:solidFill>
              </a:rPr>
              <a:t>org:parents (1) </a:t>
            </a:r>
            <a:endParaRPr sz="1600">
              <a:solidFill>
                <a:schemeClr val="dk2"/>
              </a:solidFill>
            </a:endParaRPr>
          </a:p>
          <a:p>
            <a:pPr marL="0" lvl="0" indent="0" algn="l" rtl="0">
              <a:lnSpc>
                <a:spcPct val="115000"/>
              </a:lnSpc>
              <a:spcBef>
                <a:spcPts val="1200"/>
              </a:spcBef>
              <a:spcAft>
                <a:spcPts val="0"/>
              </a:spcAft>
              <a:buNone/>
            </a:pPr>
            <a:r>
              <a:rPr lang="it" sz="1600">
                <a:solidFill>
                  <a:schemeClr val="dk2"/>
                </a:solidFill>
              </a:rPr>
              <a:t>org:top_members (1)</a:t>
            </a:r>
            <a:endParaRPr sz="1600">
              <a:solidFill>
                <a:schemeClr val="dk2"/>
              </a:solidFill>
            </a:endParaRPr>
          </a:p>
          <a:p>
            <a:pPr marL="0" lvl="0" indent="0" algn="l" rtl="0">
              <a:spcBef>
                <a:spcPts val="120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cxnSp>
        <p:nvCxnSpPr>
          <p:cNvPr id="180" name="Google Shape;180;p27"/>
          <p:cNvCxnSpPr/>
          <p:nvPr/>
        </p:nvCxnSpPr>
        <p:spPr>
          <a:xfrm rot="10800000" flipH="1">
            <a:off x="6008625" y="3540550"/>
            <a:ext cx="1087800" cy="352800"/>
          </a:xfrm>
          <a:prstGeom prst="straightConnector1">
            <a:avLst/>
          </a:prstGeom>
          <a:noFill/>
          <a:ln w="9525" cap="flat" cmpd="sng">
            <a:solidFill>
              <a:schemeClr val="dk2"/>
            </a:solidFill>
            <a:prstDash val="solid"/>
            <a:round/>
            <a:headEnd type="none" w="med" len="med"/>
            <a:tailEnd type="triangle" w="med" len="med"/>
          </a:ln>
        </p:spPr>
      </p:cxnSp>
      <p:cxnSp>
        <p:nvCxnSpPr>
          <p:cNvPr id="181" name="Google Shape;181;p27"/>
          <p:cNvCxnSpPr/>
          <p:nvPr/>
        </p:nvCxnSpPr>
        <p:spPr>
          <a:xfrm>
            <a:off x="6044425" y="3900525"/>
            <a:ext cx="1052100" cy="53400"/>
          </a:xfrm>
          <a:prstGeom prst="straightConnector1">
            <a:avLst/>
          </a:prstGeom>
          <a:noFill/>
          <a:ln w="9525" cap="flat" cmpd="sng">
            <a:solidFill>
              <a:schemeClr val="dk2"/>
            </a:solidFill>
            <a:prstDash val="solid"/>
            <a:round/>
            <a:headEnd type="none" w="med" len="med"/>
            <a:tailEnd type="triangle" w="med" len="med"/>
          </a:ln>
        </p:spPr>
      </p:cxnSp>
      <p:cxnSp>
        <p:nvCxnSpPr>
          <p:cNvPr id="182" name="Google Shape;182;p27"/>
          <p:cNvCxnSpPr/>
          <p:nvPr/>
        </p:nvCxnSpPr>
        <p:spPr>
          <a:xfrm>
            <a:off x="6037275" y="3922000"/>
            <a:ext cx="1084200" cy="435000"/>
          </a:xfrm>
          <a:prstGeom prst="straightConnector1">
            <a:avLst/>
          </a:prstGeom>
          <a:noFill/>
          <a:ln w="9525" cap="flat" cmpd="sng">
            <a:solidFill>
              <a:schemeClr val="dk2"/>
            </a:solidFill>
            <a:prstDash val="solid"/>
            <a:round/>
            <a:headEnd type="none" w="med" len="med"/>
            <a:tailEnd type="triangle" w="med" len="med"/>
          </a:ln>
        </p:spPr>
      </p:cxnSp>
      <p:sp>
        <p:nvSpPr>
          <p:cNvPr id="183" name="Google Shape;183;p27"/>
          <p:cNvSpPr txBox="1"/>
          <p:nvPr/>
        </p:nvSpPr>
        <p:spPr>
          <a:xfrm>
            <a:off x="4769575" y="3892038"/>
            <a:ext cx="1322100" cy="4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i="1">
                <a:solidFill>
                  <a:schemeClr val="dk2"/>
                </a:solidFill>
              </a:rPr>
              <a:t>(</a:t>
            </a:r>
            <a:r>
              <a:rPr lang="it" sz="1200" i="1">
                <a:solidFill>
                  <a:schemeClr val="dk2"/>
                </a:solidFill>
              </a:rPr>
              <a:t>TACRED</a:t>
            </a:r>
            <a:r>
              <a:rPr lang="it" i="1">
                <a:solidFill>
                  <a:schemeClr val="dk2"/>
                </a:solidFill>
              </a:rPr>
              <a:t>)</a:t>
            </a:r>
            <a:endParaRPr i="1">
              <a:solidFill>
                <a:schemeClr val="dk2"/>
              </a:solidFill>
            </a:endParaRPr>
          </a:p>
        </p:txBody>
      </p:sp>
      <p:sp>
        <p:nvSpPr>
          <p:cNvPr id="184" name="Google Shape;184;p27"/>
          <p:cNvSpPr txBox="1"/>
          <p:nvPr/>
        </p:nvSpPr>
        <p:spPr>
          <a:xfrm>
            <a:off x="7317125" y="4375938"/>
            <a:ext cx="1322100" cy="4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sz="1200" i="1">
                <a:solidFill>
                  <a:schemeClr val="dk2"/>
                </a:solidFill>
              </a:rPr>
              <a:t>(TACREV)</a:t>
            </a:r>
            <a:endParaRPr sz="1200" i="1">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title" idx="4294967295"/>
          </p:nvPr>
        </p:nvSpPr>
        <p:spPr>
          <a:xfrm>
            <a:off x="311700" y="1619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Other identified errors</a:t>
            </a:r>
            <a:endParaRPr sz="3020" b="1"/>
          </a:p>
        </p:txBody>
      </p:sp>
      <p:sp>
        <p:nvSpPr>
          <p:cNvPr id="190" name="Google Shape;190;p28"/>
          <p:cNvSpPr txBox="1">
            <a:spLocks noGrp="1"/>
          </p:cNvSpPr>
          <p:nvPr>
            <p:ph type="body" idx="4294967295"/>
          </p:nvPr>
        </p:nvSpPr>
        <p:spPr>
          <a:xfrm>
            <a:off x="366900" y="1033700"/>
            <a:ext cx="8410200" cy="3976800"/>
          </a:xfrm>
          <a:prstGeom prst="rect">
            <a:avLst/>
          </a:prstGeom>
        </p:spPr>
        <p:txBody>
          <a:bodyPr spcFirstLastPara="1" wrap="square" lIns="91425" tIns="91425" rIns="91425" bIns="91425" anchor="t" anchorCtr="0">
            <a:normAutofit lnSpcReduction="10000"/>
          </a:bodyPr>
          <a:lstStyle/>
          <a:p>
            <a:pPr marL="457200" lvl="0" indent="-368300" algn="l" rtl="0">
              <a:spcBef>
                <a:spcPts val="0"/>
              </a:spcBef>
              <a:spcAft>
                <a:spcPts val="0"/>
              </a:spcAft>
              <a:buSzPts val="2200"/>
              <a:buChar char="●"/>
            </a:pPr>
            <a:r>
              <a:rPr lang="it" sz="2200"/>
              <a:t>Various errors in prediction are due to mislabeled NER</a:t>
            </a:r>
            <a:endParaRPr sz="2200"/>
          </a:p>
          <a:p>
            <a:pPr marL="0" lvl="0" indent="0" algn="l" rtl="0">
              <a:spcBef>
                <a:spcPts val="1200"/>
              </a:spcBef>
              <a:spcAft>
                <a:spcPts val="0"/>
              </a:spcAft>
              <a:buNone/>
            </a:pPr>
            <a:endParaRPr sz="2200"/>
          </a:p>
          <a:p>
            <a:pPr marL="0" lvl="0" indent="0" algn="l" rtl="0">
              <a:spcBef>
                <a:spcPts val="1200"/>
              </a:spcBef>
              <a:spcAft>
                <a:spcPts val="0"/>
              </a:spcAft>
              <a:buNone/>
            </a:pPr>
            <a:br>
              <a:rPr lang="it" sz="2200" i="1"/>
            </a:br>
            <a:r>
              <a:rPr lang="it" sz="2200" i="1"/>
              <a:t>the </a:t>
            </a:r>
            <a:r>
              <a:rPr lang="it" sz="2200" b="1" i="1"/>
              <a:t>Italian </a:t>
            </a:r>
            <a:r>
              <a:rPr lang="it" sz="2200" i="1"/>
              <a:t>design company </a:t>
            </a:r>
            <a:r>
              <a:rPr lang="it" sz="2200" b="1" i="1"/>
              <a:t>Alessi</a:t>
            </a:r>
            <a:r>
              <a:rPr lang="it" sz="2200"/>
              <a:t>  </a:t>
            </a:r>
            <a:endParaRPr sz="1700" i="1"/>
          </a:p>
          <a:p>
            <a:pPr marL="0" lvl="0" indent="0" algn="l" rtl="0">
              <a:lnSpc>
                <a:spcPct val="100000"/>
              </a:lnSpc>
              <a:spcBef>
                <a:spcPts val="1200"/>
              </a:spcBef>
              <a:spcAft>
                <a:spcPts val="0"/>
              </a:spcAft>
              <a:buNone/>
            </a:pPr>
            <a:endParaRPr/>
          </a:p>
          <a:p>
            <a:pPr marL="0" lvl="0" indent="0" algn="l" rtl="0">
              <a:lnSpc>
                <a:spcPct val="100000"/>
              </a:lnSpc>
              <a:spcBef>
                <a:spcPts val="0"/>
              </a:spcBef>
              <a:spcAft>
                <a:spcPts val="0"/>
              </a:spcAft>
              <a:buNone/>
            </a:pPr>
            <a:br>
              <a:rPr lang="it" sz="2200" b="1" i="1"/>
            </a:br>
            <a:r>
              <a:rPr lang="it" sz="2200" b="1" i="1"/>
              <a:t>NCAI</a:t>
            </a:r>
            <a:r>
              <a:rPr lang="it" sz="2200" i="1"/>
              <a:t>, based in Washington, </a:t>
            </a:r>
            <a:r>
              <a:rPr lang="it" sz="2200" b="1" i="1"/>
              <a:t>DC </a:t>
            </a:r>
            <a:endParaRPr sz="2200" b="1" i="1"/>
          </a:p>
          <a:p>
            <a:pPr marL="0" lvl="0" indent="0" algn="l" rtl="0">
              <a:lnSpc>
                <a:spcPct val="100000"/>
              </a:lnSpc>
              <a:spcBef>
                <a:spcPts val="0"/>
              </a:spcBef>
              <a:spcAft>
                <a:spcPts val="0"/>
              </a:spcAft>
              <a:buNone/>
            </a:pPr>
            <a:endParaRPr i="1"/>
          </a:p>
          <a:p>
            <a:pPr marL="0" lvl="0" indent="0" algn="l" rtl="0">
              <a:lnSpc>
                <a:spcPct val="100000"/>
              </a:lnSpc>
              <a:spcBef>
                <a:spcPts val="0"/>
              </a:spcBef>
              <a:spcAft>
                <a:spcPts val="0"/>
              </a:spcAft>
              <a:buNone/>
            </a:pPr>
            <a:endParaRPr/>
          </a:p>
          <a:p>
            <a:pPr marL="457200" lvl="0" indent="0" algn="l" rtl="0">
              <a:spcBef>
                <a:spcPts val="0"/>
              </a:spcBef>
              <a:spcAft>
                <a:spcPts val="1200"/>
              </a:spcAft>
              <a:buNone/>
            </a:pPr>
            <a:endParaRPr sz="2200"/>
          </a:p>
        </p:txBody>
      </p:sp>
      <p:sp>
        <p:nvSpPr>
          <p:cNvPr id="191" name="Google Shape;191;p28"/>
          <p:cNvSpPr/>
          <p:nvPr/>
        </p:nvSpPr>
        <p:spPr>
          <a:xfrm>
            <a:off x="4823775" y="2571750"/>
            <a:ext cx="849300" cy="246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 name="Google Shape;192;p28"/>
          <p:cNvSpPr txBox="1"/>
          <p:nvPr/>
        </p:nvSpPr>
        <p:spPr>
          <a:xfrm>
            <a:off x="486050" y="2726275"/>
            <a:ext cx="1972200" cy="33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i="1">
                <a:solidFill>
                  <a:schemeClr val="dk2"/>
                </a:solidFill>
              </a:rPr>
              <a:t>OBJ-NATIONALITY</a:t>
            </a:r>
            <a:endParaRPr i="1">
              <a:solidFill>
                <a:schemeClr val="dk2"/>
              </a:solidFill>
            </a:endParaRPr>
          </a:p>
          <a:p>
            <a:pPr marL="0" lvl="0" indent="0" algn="l" rtl="0">
              <a:spcBef>
                <a:spcPts val="0"/>
              </a:spcBef>
              <a:spcAft>
                <a:spcPts val="0"/>
              </a:spcAft>
              <a:buNone/>
            </a:pPr>
            <a:endParaRPr sz="1800">
              <a:solidFill>
                <a:schemeClr val="dk2"/>
              </a:solidFill>
            </a:endParaRPr>
          </a:p>
        </p:txBody>
      </p:sp>
      <p:sp>
        <p:nvSpPr>
          <p:cNvPr id="193" name="Google Shape;193;p28"/>
          <p:cNvSpPr txBox="1"/>
          <p:nvPr/>
        </p:nvSpPr>
        <p:spPr>
          <a:xfrm>
            <a:off x="-2348050" y="3934850"/>
            <a:ext cx="5697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
        <p:nvSpPr>
          <p:cNvPr id="194" name="Google Shape;194;p28"/>
          <p:cNvSpPr txBox="1"/>
          <p:nvPr/>
        </p:nvSpPr>
        <p:spPr>
          <a:xfrm>
            <a:off x="3445625" y="2726275"/>
            <a:ext cx="1502400" cy="33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i="1">
                <a:solidFill>
                  <a:srgbClr val="FF0000"/>
                </a:solidFill>
              </a:rPr>
              <a:t>SUBJ-PERSON</a:t>
            </a:r>
            <a:endParaRPr i="1">
              <a:solidFill>
                <a:srgbClr val="FF0000"/>
              </a:solidFill>
            </a:endParaRPr>
          </a:p>
        </p:txBody>
      </p:sp>
      <p:sp>
        <p:nvSpPr>
          <p:cNvPr id="195" name="Google Shape;195;p28"/>
          <p:cNvSpPr txBox="1"/>
          <p:nvPr/>
        </p:nvSpPr>
        <p:spPr>
          <a:xfrm>
            <a:off x="5332250" y="2571750"/>
            <a:ext cx="793800" cy="24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solidFill>
                <a:schemeClr val="dk2"/>
              </a:solidFill>
            </a:endParaRPr>
          </a:p>
          <a:p>
            <a:pPr marL="0" lvl="0" indent="0" algn="ctr" rtl="0">
              <a:spcBef>
                <a:spcPts val="0"/>
              </a:spcBef>
              <a:spcAft>
                <a:spcPts val="0"/>
              </a:spcAft>
              <a:buNone/>
            </a:pPr>
            <a:endParaRPr sz="1600">
              <a:solidFill>
                <a:schemeClr val="dk2"/>
              </a:solidFill>
            </a:endParaRPr>
          </a:p>
        </p:txBody>
      </p:sp>
      <p:sp>
        <p:nvSpPr>
          <p:cNvPr id="196" name="Google Shape;196;p28"/>
          <p:cNvSpPr txBox="1"/>
          <p:nvPr/>
        </p:nvSpPr>
        <p:spPr>
          <a:xfrm>
            <a:off x="5625900" y="2310750"/>
            <a:ext cx="3518100" cy="5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sz="1200">
                <a:solidFill>
                  <a:schemeClr val="dk2"/>
                </a:solidFill>
              </a:rPr>
              <a:t>(prediction)</a:t>
            </a:r>
            <a:r>
              <a:rPr lang="it" sz="1600" b="1">
                <a:solidFill>
                  <a:schemeClr val="dk2"/>
                </a:solidFill>
              </a:rPr>
              <a:t> per:origin</a:t>
            </a:r>
            <a:endParaRPr sz="900" b="1">
              <a:solidFill>
                <a:schemeClr val="dk2"/>
              </a:solidFill>
            </a:endParaRPr>
          </a:p>
          <a:p>
            <a:pPr marL="0" lvl="0" indent="0" algn="l" rtl="0">
              <a:spcBef>
                <a:spcPts val="0"/>
              </a:spcBef>
              <a:spcAft>
                <a:spcPts val="0"/>
              </a:spcAft>
              <a:buNone/>
            </a:pPr>
            <a:r>
              <a:rPr lang="it" sz="1300">
                <a:solidFill>
                  <a:schemeClr val="dk2"/>
                </a:solidFill>
              </a:rPr>
              <a:t>(true)</a:t>
            </a:r>
            <a:r>
              <a:rPr lang="it" sz="1600" b="1">
                <a:solidFill>
                  <a:schemeClr val="dk2"/>
                </a:solidFill>
              </a:rPr>
              <a:t> org:country_of_headquarters</a:t>
            </a:r>
            <a:endParaRPr sz="1600" b="1">
              <a:solidFill>
                <a:schemeClr val="dk2"/>
              </a:solidFill>
            </a:endParaRPr>
          </a:p>
        </p:txBody>
      </p:sp>
      <p:sp>
        <p:nvSpPr>
          <p:cNvPr id="197" name="Google Shape;197;p28"/>
          <p:cNvSpPr txBox="1"/>
          <p:nvPr/>
        </p:nvSpPr>
        <p:spPr>
          <a:xfrm>
            <a:off x="0" y="3790750"/>
            <a:ext cx="2076300" cy="24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t" i="1">
                <a:solidFill>
                  <a:schemeClr val="dk2"/>
                </a:solidFill>
              </a:rPr>
              <a:t>SUBJ-ORGANIZATION</a:t>
            </a:r>
            <a:endParaRPr i="1">
              <a:solidFill>
                <a:schemeClr val="dk2"/>
              </a:solidFill>
            </a:endParaRPr>
          </a:p>
          <a:p>
            <a:pPr marL="0" lvl="0" indent="0" algn="l" rtl="0">
              <a:spcBef>
                <a:spcPts val="0"/>
              </a:spcBef>
              <a:spcAft>
                <a:spcPts val="0"/>
              </a:spcAft>
              <a:buNone/>
            </a:pPr>
            <a:endParaRPr sz="1800">
              <a:solidFill>
                <a:schemeClr val="dk2"/>
              </a:solidFill>
            </a:endParaRPr>
          </a:p>
        </p:txBody>
      </p:sp>
      <p:sp>
        <p:nvSpPr>
          <p:cNvPr id="198" name="Google Shape;198;p28"/>
          <p:cNvSpPr txBox="1"/>
          <p:nvPr/>
        </p:nvSpPr>
        <p:spPr>
          <a:xfrm>
            <a:off x="3445625" y="3790750"/>
            <a:ext cx="1583700" cy="33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i="1">
                <a:solidFill>
                  <a:srgbClr val="FF0000"/>
                </a:solidFill>
              </a:rPr>
              <a:t>OBJ-LOCATION</a:t>
            </a:r>
            <a:endParaRPr i="1">
              <a:solidFill>
                <a:srgbClr val="FF0000"/>
              </a:solidFill>
            </a:endParaRPr>
          </a:p>
        </p:txBody>
      </p:sp>
      <p:sp>
        <p:nvSpPr>
          <p:cNvPr id="199" name="Google Shape;199;p28"/>
          <p:cNvSpPr/>
          <p:nvPr/>
        </p:nvSpPr>
        <p:spPr>
          <a:xfrm>
            <a:off x="4572000" y="3581400"/>
            <a:ext cx="849300" cy="246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 name="Google Shape;200;p28"/>
          <p:cNvSpPr txBox="1"/>
          <p:nvPr/>
        </p:nvSpPr>
        <p:spPr>
          <a:xfrm>
            <a:off x="5492200" y="3306300"/>
            <a:ext cx="3518100" cy="5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 sz="1200">
                <a:solidFill>
                  <a:schemeClr val="dk2"/>
                </a:solidFill>
              </a:rPr>
              <a:t>(prediction) </a:t>
            </a:r>
            <a:r>
              <a:rPr lang="it" sz="1600" b="1">
                <a:solidFill>
                  <a:schemeClr val="dk2"/>
                </a:solidFill>
              </a:rPr>
              <a:t>org:city_of_headquarters</a:t>
            </a:r>
            <a:endParaRPr sz="800" b="1">
              <a:solidFill>
                <a:schemeClr val="dk2"/>
              </a:solidFill>
            </a:endParaRPr>
          </a:p>
          <a:p>
            <a:pPr marL="0" lvl="0" indent="0" algn="l" rtl="0">
              <a:spcBef>
                <a:spcPts val="0"/>
              </a:spcBef>
              <a:spcAft>
                <a:spcPts val="0"/>
              </a:spcAft>
              <a:buClr>
                <a:schemeClr val="dk1"/>
              </a:buClr>
              <a:buSzPts val="1100"/>
              <a:buFont typeface="Arial"/>
              <a:buNone/>
            </a:pPr>
            <a:r>
              <a:rPr lang="it" sz="1300">
                <a:solidFill>
                  <a:schemeClr val="dk2"/>
                </a:solidFill>
              </a:rPr>
              <a:t>(true)</a:t>
            </a:r>
            <a:r>
              <a:rPr lang="it" sz="1300" b="1">
                <a:solidFill>
                  <a:schemeClr val="dk2"/>
                </a:solidFill>
              </a:rPr>
              <a:t> </a:t>
            </a:r>
            <a:r>
              <a:rPr lang="it" sz="1600" b="1">
                <a:solidFill>
                  <a:schemeClr val="dk2"/>
                </a:solidFill>
              </a:rPr>
              <a:t>org:state_of_headquarters</a:t>
            </a:r>
            <a:endParaRPr sz="1600" b="1">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txBox="1">
            <a:spLocks noGrp="1"/>
          </p:cNvSpPr>
          <p:nvPr>
            <p:ph type="title" idx="4294967295"/>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3020" b="1"/>
              <a:t>References</a:t>
            </a:r>
            <a:endParaRPr sz="3020" b="1"/>
          </a:p>
        </p:txBody>
      </p:sp>
      <p:sp>
        <p:nvSpPr>
          <p:cNvPr id="206" name="Google Shape;206;p29"/>
          <p:cNvSpPr txBox="1">
            <a:spLocks noGrp="1"/>
          </p:cNvSpPr>
          <p:nvPr>
            <p:ph type="body" idx="4294967295"/>
          </p:nvPr>
        </p:nvSpPr>
        <p:spPr>
          <a:xfrm>
            <a:off x="311700" y="1152475"/>
            <a:ext cx="8520600" cy="37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1200"/>
              <a:t>[1] Yuhao Zhang, Victor Zhong, Danqi Chen, Gabor Angeli, and Christopher D. Manning. Position-aware attention and supervised data improve slot filling. In </a:t>
            </a:r>
            <a:r>
              <a:rPr lang="it" sz="1200" i="1"/>
              <a:t>Proceedings of the 2017 Conference on Empirical Methods in Natural Language Processing</a:t>
            </a:r>
            <a:r>
              <a:rPr lang="it" sz="1200"/>
              <a:t>, pages 35–45, Copenhagen, Denmark, September 2017. Association for Computational Linguistics. doi: 10.18653/v1/D17-1004. URL </a:t>
            </a:r>
            <a:r>
              <a:rPr lang="it" sz="1200" u="sng">
                <a:solidFill>
                  <a:schemeClr val="hlink"/>
                </a:solidFill>
                <a:hlinkClick r:id="rId3"/>
              </a:rPr>
              <a:t>https://aclanthology.org/D17-1004/</a:t>
            </a:r>
            <a:endParaRPr sz="1200"/>
          </a:p>
          <a:p>
            <a:pPr marL="0" lvl="0" indent="0" algn="l" rtl="0">
              <a:spcBef>
                <a:spcPts val="1200"/>
              </a:spcBef>
              <a:spcAft>
                <a:spcPts val="0"/>
              </a:spcAft>
              <a:buNone/>
            </a:pPr>
            <a:r>
              <a:rPr lang="it" sz="1200"/>
              <a:t>[2] Christoph Alt, Aleksandra Gabryszak, and Leonhard Hennig. TACRED revisited: A thorough evaluation of the TACRED relation extraction task. In </a:t>
            </a:r>
            <a:r>
              <a:rPr lang="it" sz="1200" i="1"/>
              <a:t>Proceedings of the 58th Annual Meeting of the Association for Computational Linguistics</a:t>
            </a:r>
            <a:r>
              <a:rPr lang="it" sz="1200"/>
              <a:t>, pages 1558–1569, Online, July 2020. Association for Computational Linguistics. doi: 10.18653/v1/2020.acl-main.142. URL </a:t>
            </a:r>
            <a:r>
              <a:rPr lang="it" sz="1200" u="sng">
                <a:solidFill>
                  <a:schemeClr val="hlink"/>
                </a:solidFill>
                <a:hlinkClick r:id="rId4"/>
              </a:rPr>
              <a:t>https://aclanthology.org/2020.acl-main.142/</a:t>
            </a:r>
            <a:endParaRPr sz="1200"/>
          </a:p>
          <a:p>
            <a:pPr marL="0" lvl="0" indent="0" algn="l" rtl="0">
              <a:spcBef>
                <a:spcPts val="1200"/>
              </a:spcBef>
              <a:spcAft>
                <a:spcPts val="1200"/>
              </a:spcAft>
              <a:buNone/>
            </a:pPr>
            <a:endParaRPr sz="12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3521</Words>
  <Application>Microsoft Office PowerPoint</Application>
  <PresentationFormat>Presentazione su schermo (16:9)</PresentationFormat>
  <Paragraphs>295</Paragraphs>
  <Slides>17</Slides>
  <Notes>17</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17</vt:i4>
      </vt:variant>
    </vt:vector>
  </HeadingPairs>
  <TitlesOfParts>
    <vt:vector size="19" baseType="lpstr">
      <vt:lpstr>Arial</vt:lpstr>
      <vt:lpstr>Simple Light</vt:lpstr>
      <vt:lpstr>Presentazione standard di PowerPoint</vt:lpstr>
      <vt:lpstr>Relation Extraction (RE)</vt:lpstr>
      <vt:lpstr>Datasets</vt:lpstr>
      <vt:lpstr>Presentazione standard di PowerPoint</vt:lpstr>
      <vt:lpstr>Presentazione standard di PowerPoint</vt:lpstr>
      <vt:lpstr>Random Forest</vt:lpstr>
      <vt:lpstr>Results RF </vt:lpstr>
      <vt:lpstr>DL Models</vt:lpstr>
      <vt:lpstr>Results (PA-LSTM)</vt:lpstr>
      <vt:lpstr>Presentazione standard di PowerPoint</vt:lpstr>
      <vt:lpstr>Error Analysis</vt:lpstr>
      <vt:lpstr>Error Analysis</vt:lpstr>
      <vt:lpstr>Error Analysis (RF)</vt:lpstr>
      <vt:lpstr>Error Analysis (DL)</vt:lpstr>
      <vt:lpstr>Analysis of similar relations</vt:lpstr>
      <vt:lpstr>Other identified errors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cp:lastModifiedBy>Silvia Bonomi</cp:lastModifiedBy>
  <cp:revision>2</cp:revision>
  <dcterms:modified xsi:type="dcterms:W3CDTF">2024-01-26T18:56:46Z</dcterms:modified>
</cp:coreProperties>
</file>